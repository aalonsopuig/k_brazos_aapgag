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23"/>
  </p:notesMasterIdLst>
  <p:handoutMasterIdLst>
    <p:handoutMasterId r:id="rId24"/>
  </p:handoutMasterIdLst>
  <p:sldIdLst>
    <p:sldId id="256" r:id="rId2"/>
    <p:sldId id="275" r:id="rId3"/>
    <p:sldId id="276" r:id="rId4"/>
    <p:sldId id="277" r:id="rId5"/>
    <p:sldId id="283" r:id="rId6"/>
    <p:sldId id="280" r:id="rId7"/>
    <p:sldId id="285" r:id="rId8"/>
    <p:sldId id="281" r:id="rId9"/>
    <p:sldId id="286" r:id="rId10"/>
    <p:sldId id="282" r:id="rId11"/>
    <p:sldId id="287" r:id="rId12"/>
    <p:sldId id="278" r:id="rId13"/>
    <p:sldId id="289" r:id="rId14"/>
    <p:sldId id="293" r:id="rId15"/>
    <p:sldId id="284" r:id="rId16"/>
    <p:sldId id="290" r:id="rId17"/>
    <p:sldId id="292" r:id="rId18"/>
    <p:sldId id="294" r:id="rId19"/>
    <p:sldId id="296" r:id="rId20"/>
    <p:sldId id="295" r:id="rId21"/>
    <p:sldId id="260" r:id="rId22"/>
  </p:sldIdLst>
  <p:sldSz cx="12192000" cy="6858000"/>
  <p:notesSz cx="6858000" cy="9144000"/>
  <p:defaultTextStyle>
    <a:defPPr rtl="0"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4F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84116" autoAdjust="0"/>
  </p:normalViewPr>
  <p:slideViewPr>
    <p:cSldViewPr snapToGrid="0">
      <p:cViewPr>
        <p:scale>
          <a:sx n="110" d="100"/>
          <a:sy n="110" d="100"/>
        </p:scale>
        <p:origin x="516" y="-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397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62B80FE-187A-4085-BD71-F0873FF7BD68}" type="datetime1">
              <a:rPr lang="es-ES" smtClean="0"/>
              <a:t>06/03/2025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D59A2BD-4571-4110-BB3E-5D004DE434FA}" type="datetime1">
              <a:rPr lang="es-ES" noProof="0" smtClean="0"/>
              <a:t>06/03/2025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B3AB32-59DF-41F1-9618-EDFBF5049629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ymnasium.farama.org/environments/toy_text/frozen_lake/#is_slippy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s-ES" sz="1800" b="0" i="0" u="none" strike="noStrike" baseline="0" dirty="0">
                <a:solidFill>
                  <a:srgbClr val="000000"/>
                </a:solidFill>
                <a:latin typeface="IwonaCond-Regular"/>
              </a:rPr>
              <a:t>Los </a:t>
            </a:r>
            <a:r>
              <a:rPr lang="es-ES" sz="1800" b="1" i="0" u="none" strike="noStrike" baseline="0" dirty="0">
                <a:solidFill>
                  <a:srgbClr val="0000C0"/>
                </a:solidFill>
                <a:latin typeface="IwonaCond-Bold"/>
              </a:rPr>
              <a:t>métodos de Monte Carlo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IwonaCond-Regular"/>
              </a:rPr>
              <a:t>se caracterizan por:</a:t>
            </a:r>
          </a:p>
          <a:p>
            <a:pPr algn="l"/>
            <a:r>
              <a:rPr lang="es-ES" sz="1800" b="0" i="0" u="none" strike="noStrike" baseline="0" dirty="0">
                <a:solidFill>
                  <a:srgbClr val="003B49"/>
                </a:solidFill>
                <a:latin typeface="MSAM10"/>
              </a:rPr>
              <a:t>▶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IwonaCond-Regular"/>
              </a:rPr>
              <a:t>Es </a:t>
            </a:r>
            <a:r>
              <a:rPr lang="es-ES" sz="1800" b="1" i="1" u="none" strike="noStrike" baseline="0" dirty="0">
                <a:solidFill>
                  <a:srgbClr val="0000C0"/>
                </a:solidFill>
                <a:latin typeface="IwonaCond-BoldItalic"/>
              </a:rPr>
              <a:t>sin modelo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IwonaCond-Regular"/>
              </a:rPr>
              <a:t>: no requieren conocimiento previo de la dinámica del entorno</a:t>
            </a:r>
          </a:p>
          <a:p>
            <a:pPr algn="l"/>
            <a:r>
              <a:rPr lang="es-ES" sz="1800" b="0" i="0" u="none" strike="noStrike" baseline="0" dirty="0">
                <a:solidFill>
                  <a:srgbClr val="003B49"/>
                </a:solidFill>
                <a:latin typeface="MSAM10"/>
              </a:rPr>
              <a:t>▶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IwonaCond-Regular"/>
              </a:rPr>
              <a:t>Requieren solo </a:t>
            </a:r>
            <a:r>
              <a:rPr lang="es-ES" sz="1800" b="1" i="0" u="none" strike="noStrike" baseline="0" dirty="0">
                <a:solidFill>
                  <a:srgbClr val="0000C0"/>
                </a:solidFill>
                <a:latin typeface="IwonaCond-Bold"/>
              </a:rPr>
              <a:t>experiencia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IwonaCond-Regular"/>
              </a:rPr>
              <a:t>: conocimiento de trayectorias</a:t>
            </a:r>
          </a:p>
          <a:p>
            <a:pPr algn="l"/>
            <a:r>
              <a:rPr lang="es-ES" sz="1800" b="0" i="0" u="none" strike="noStrike" baseline="0" dirty="0">
                <a:solidFill>
                  <a:srgbClr val="003B49"/>
                </a:solidFill>
                <a:latin typeface="MSAM10"/>
              </a:rPr>
              <a:t>▶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IwonaCond-Regular"/>
              </a:rPr>
              <a:t>Cualquier Monte Carlo usa </a:t>
            </a:r>
            <a:r>
              <a:rPr lang="es-ES" sz="1800" b="1" i="0" u="none" strike="noStrike" baseline="0" dirty="0">
                <a:solidFill>
                  <a:srgbClr val="0000C0"/>
                </a:solidFill>
                <a:latin typeface="IwonaCond-Bold"/>
              </a:rPr>
              <a:t>muestras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IwonaCond-Regular"/>
              </a:rPr>
              <a:t>para realizar estimaciones.</a:t>
            </a:r>
          </a:p>
          <a:p>
            <a:pPr algn="l"/>
            <a:r>
              <a:rPr lang="es-ES" sz="1800" b="0" i="0" u="none" strike="noStrike" baseline="0" dirty="0">
                <a:solidFill>
                  <a:srgbClr val="003B49"/>
                </a:solidFill>
                <a:latin typeface="MSAM10"/>
              </a:rPr>
              <a:t>▶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IwonaCond-Regular"/>
              </a:rPr>
              <a:t>Una muestra es finita: MC únicamente para </a:t>
            </a:r>
            <a:r>
              <a:rPr lang="es-ES" sz="1800" b="1" i="0" u="none" strike="noStrike" baseline="0" dirty="0">
                <a:solidFill>
                  <a:srgbClr val="0000C0"/>
                </a:solidFill>
                <a:latin typeface="IwonaCond-Bold"/>
              </a:rPr>
              <a:t>tareas episódicas</a:t>
            </a:r>
          </a:p>
          <a:p>
            <a:pPr algn="l"/>
            <a:r>
              <a:rPr lang="es-ES" sz="1800" b="0" i="0" u="none" strike="noStrike" baseline="0" dirty="0">
                <a:solidFill>
                  <a:srgbClr val="003B49"/>
                </a:solidFill>
                <a:latin typeface="MSAM10"/>
              </a:rPr>
              <a:t>▶ </a:t>
            </a:r>
            <a:r>
              <a:rPr lang="es-ES" sz="1800" b="1" i="0" u="none" strike="noStrike" baseline="0" dirty="0">
                <a:solidFill>
                  <a:srgbClr val="0000C0"/>
                </a:solidFill>
                <a:latin typeface="IwonaCond-Bold"/>
              </a:rPr>
              <a:t>Solo al completar un episodio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IwonaCond-Regular"/>
              </a:rPr>
              <a:t>, se estimarán los valores y se actualizan las</a:t>
            </a:r>
          </a:p>
          <a:p>
            <a:pPr algn="l"/>
            <a:r>
              <a:rPr lang="en-GB" sz="1800" b="0" i="0" u="none" strike="noStrike" baseline="0" dirty="0" err="1">
                <a:solidFill>
                  <a:srgbClr val="000000"/>
                </a:solidFill>
                <a:latin typeface="IwonaCond-Regular"/>
              </a:rPr>
              <a:t>políticas</a:t>
            </a:r>
            <a:r>
              <a:rPr lang="en-GB" sz="1800" b="0" i="0" u="none" strike="noStrike" baseline="0" dirty="0">
                <a:solidFill>
                  <a:srgbClr val="000000"/>
                </a:solidFill>
                <a:latin typeface="IwonaCond-Regular"/>
              </a:rPr>
              <a:t> (No </a:t>
            </a:r>
            <a:r>
              <a:rPr lang="en-GB" sz="1800" b="0" i="0" u="none" strike="noStrike" baseline="0" dirty="0" err="1">
                <a:solidFill>
                  <a:srgbClr val="000000"/>
                </a:solidFill>
                <a:latin typeface="IwonaCond-Regular"/>
              </a:rPr>
              <a:t>utiliza</a:t>
            </a:r>
            <a:r>
              <a:rPr lang="en-GB" sz="1800" b="0" i="0" u="none" strike="noStrike" baseline="0" dirty="0">
                <a:solidFill>
                  <a:srgbClr val="000000"/>
                </a:solidFill>
                <a:latin typeface="IwonaCond-Regular"/>
              </a:rPr>
              <a:t> </a:t>
            </a:r>
            <a:r>
              <a:rPr lang="en-GB" sz="1800" b="0" i="1" u="none" strike="noStrike" baseline="0" dirty="0">
                <a:solidFill>
                  <a:srgbClr val="000000"/>
                </a:solidFill>
                <a:latin typeface="IwonaCond-Italic"/>
              </a:rPr>
              <a:t>bootstrapping</a:t>
            </a:r>
            <a:r>
              <a:rPr lang="en-GB" sz="1800" b="0" i="0" u="none" strike="noStrike" baseline="0" dirty="0">
                <a:solidFill>
                  <a:srgbClr val="000000"/>
                </a:solidFill>
                <a:latin typeface="IwonaCond-Regular"/>
              </a:rPr>
              <a:t>).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es-ES" noProof="0" smtClean="0"/>
              <a:t>12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0625641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Nos </a:t>
            </a:r>
            <a:r>
              <a:rPr lang="en-GB" dirty="0" err="1"/>
              <a:t>basamos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las </a:t>
            </a:r>
            <a:r>
              <a:rPr lang="en-GB" dirty="0" err="1"/>
              <a:t>ecuaciones</a:t>
            </a:r>
            <a:r>
              <a:rPr lang="en-GB" dirty="0"/>
              <a:t> de Bellman para </a:t>
            </a:r>
            <a:r>
              <a:rPr lang="en-GB" dirty="0" err="1"/>
              <a:t>el</a:t>
            </a:r>
            <a:r>
              <a:rPr lang="en-GB" dirty="0"/>
              <a:t> </a:t>
            </a:r>
            <a:r>
              <a:rPr lang="en-GB" dirty="0" err="1"/>
              <a:t>cálculo</a:t>
            </a:r>
            <a:r>
              <a:rPr lang="en-GB" dirty="0"/>
              <a:t> de las </a:t>
            </a:r>
            <a:r>
              <a:rPr lang="en-GB" dirty="0" err="1"/>
              <a:t>Recompensas</a:t>
            </a:r>
            <a:r>
              <a:rPr lang="en-GB" dirty="0"/>
              <a:t> de Markov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es-ES" noProof="0" smtClean="0"/>
              <a:t>13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0802690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s-ES" sz="1800" b="0" i="0" u="none" strike="noStrike" baseline="0" dirty="0">
                <a:solidFill>
                  <a:srgbClr val="000000"/>
                </a:solidFill>
                <a:latin typeface="IwonaCond-Regular"/>
              </a:rPr>
              <a:t>Los </a:t>
            </a:r>
            <a:r>
              <a:rPr lang="es-ES" sz="1800" b="1" i="0" u="none" strike="noStrike" baseline="0" dirty="0">
                <a:solidFill>
                  <a:srgbClr val="0000C0"/>
                </a:solidFill>
                <a:latin typeface="IwonaCond-Bold"/>
              </a:rPr>
              <a:t>métodos de Monte Carlo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IwonaCond-Regular"/>
              </a:rPr>
              <a:t>se caracterizan por:</a:t>
            </a:r>
          </a:p>
          <a:p>
            <a:pPr algn="l"/>
            <a:r>
              <a:rPr lang="es-ES" sz="1800" b="0" i="0" u="none" strike="noStrike" baseline="0" dirty="0">
                <a:solidFill>
                  <a:srgbClr val="003B49"/>
                </a:solidFill>
                <a:latin typeface="MSAM10"/>
              </a:rPr>
              <a:t>▶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IwonaCond-Regular"/>
              </a:rPr>
              <a:t>Es </a:t>
            </a:r>
            <a:r>
              <a:rPr lang="es-ES" sz="1800" b="1" i="1" u="none" strike="noStrike" baseline="0" dirty="0">
                <a:solidFill>
                  <a:srgbClr val="0000C0"/>
                </a:solidFill>
                <a:latin typeface="IwonaCond-BoldItalic"/>
              </a:rPr>
              <a:t>sin modelo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IwonaCond-Regular"/>
              </a:rPr>
              <a:t>: no requieren conocimiento previo de la dinámica del entorno</a:t>
            </a:r>
          </a:p>
          <a:p>
            <a:pPr algn="l"/>
            <a:r>
              <a:rPr lang="es-ES" sz="1800" b="0" i="0" u="none" strike="noStrike" baseline="0" dirty="0">
                <a:solidFill>
                  <a:srgbClr val="003B49"/>
                </a:solidFill>
                <a:latin typeface="MSAM10"/>
              </a:rPr>
              <a:t>▶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IwonaCond-Regular"/>
              </a:rPr>
              <a:t>Requieren solo </a:t>
            </a:r>
            <a:r>
              <a:rPr lang="es-ES" sz="1800" b="1" i="0" u="none" strike="noStrike" baseline="0" dirty="0">
                <a:solidFill>
                  <a:srgbClr val="0000C0"/>
                </a:solidFill>
                <a:latin typeface="IwonaCond-Bold"/>
              </a:rPr>
              <a:t>experiencia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IwonaCond-Regular"/>
              </a:rPr>
              <a:t>: conocimiento de trayectorias</a:t>
            </a:r>
          </a:p>
          <a:p>
            <a:pPr algn="l"/>
            <a:r>
              <a:rPr lang="es-ES" sz="1800" b="0" i="0" u="none" strike="noStrike" baseline="0" dirty="0">
                <a:solidFill>
                  <a:srgbClr val="003B49"/>
                </a:solidFill>
                <a:latin typeface="MSAM10"/>
              </a:rPr>
              <a:t>▶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IwonaCond-Regular"/>
              </a:rPr>
              <a:t>Cualquier Monte Carlo usa </a:t>
            </a:r>
            <a:r>
              <a:rPr lang="es-ES" sz="1800" b="1" i="0" u="none" strike="noStrike" baseline="0" dirty="0">
                <a:solidFill>
                  <a:srgbClr val="0000C0"/>
                </a:solidFill>
                <a:latin typeface="IwonaCond-Bold"/>
              </a:rPr>
              <a:t>muestras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IwonaCond-Regular"/>
              </a:rPr>
              <a:t>para realizar estimaciones.</a:t>
            </a:r>
          </a:p>
          <a:p>
            <a:pPr algn="l"/>
            <a:r>
              <a:rPr lang="es-ES" sz="1800" b="0" i="0" u="none" strike="noStrike" baseline="0" dirty="0">
                <a:solidFill>
                  <a:srgbClr val="003B49"/>
                </a:solidFill>
                <a:latin typeface="MSAM10"/>
              </a:rPr>
              <a:t>▶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IwonaCond-Regular"/>
              </a:rPr>
              <a:t>Una muestra es finita: MC únicamente para </a:t>
            </a:r>
            <a:r>
              <a:rPr lang="es-ES" sz="1800" b="1" i="0" u="none" strike="noStrike" baseline="0" dirty="0">
                <a:solidFill>
                  <a:srgbClr val="0000C0"/>
                </a:solidFill>
                <a:latin typeface="IwonaCond-Bold"/>
              </a:rPr>
              <a:t>tareas episódicas</a:t>
            </a:r>
          </a:p>
          <a:p>
            <a:pPr algn="l"/>
            <a:r>
              <a:rPr lang="es-ES" sz="1800" b="0" i="0" u="none" strike="noStrike" baseline="0" dirty="0">
                <a:solidFill>
                  <a:srgbClr val="003B49"/>
                </a:solidFill>
                <a:latin typeface="MSAM10"/>
              </a:rPr>
              <a:t>▶ </a:t>
            </a:r>
            <a:r>
              <a:rPr lang="es-ES" sz="1800" b="1" i="0" u="none" strike="noStrike" baseline="0" dirty="0">
                <a:solidFill>
                  <a:srgbClr val="0000C0"/>
                </a:solidFill>
                <a:latin typeface="IwonaCond-Bold"/>
              </a:rPr>
              <a:t>Solo al completar un episodio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IwonaCond-Regular"/>
              </a:rPr>
              <a:t>, se estimarán los valores y se actualizan las</a:t>
            </a:r>
          </a:p>
          <a:p>
            <a:pPr algn="l"/>
            <a:r>
              <a:rPr lang="en-GB" sz="1800" b="0" i="0" u="none" strike="noStrike" baseline="0" dirty="0" err="1">
                <a:solidFill>
                  <a:srgbClr val="000000"/>
                </a:solidFill>
                <a:latin typeface="IwonaCond-Regular"/>
              </a:rPr>
              <a:t>políticas</a:t>
            </a:r>
            <a:r>
              <a:rPr lang="en-GB" sz="1800" b="0" i="0" u="none" strike="noStrike" baseline="0" dirty="0">
                <a:solidFill>
                  <a:srgbClr val="000000"/>
                </a:solidFill>
                <a:latin typeface="IwonaCond-Regular"/>
              </a:rPr>
              <a:t> (No </a:t>
            </a:r>
            <a:r>
              <a:rPr lang="en-GB" sz="1800" b="0" i="0" u="none" strike="noStrike" baseline="0" dirty="0" err="1">
                <a:solidFill>
                  <a:srgbClr val="000000"/>
                </a:solidFill>
                <a:latin typeface="IwonaCond-Regular"/>
              </a:rPr>
              <a:t>utiliza</a:t>
            </a:r>
            <a:r>
              <a:rPr lang="en-GB" sz="1800" b="0" i="0" u="none" strike="noStrike" baseline="0" dirty="0">
                <a:solidFill>
                  <a:srgbClr val="000000"/>
                </a:solidFill>
                <a:latin typeface="IwonaCond-Regular"/>
              </a:rPr>
              <a:t> </a:t>
            </a:r>
            <a:r>
              <a:rPr lang="en-GB" sz="1800" b="0" i="1" u="none" strike="noStrike" baseline="0" dirty="0">
                <a:solidFill>
                  <a:srgbClr val="000000"/>
                </a:solidFill>
                <a:latin typeface="IwonaCond-Italic"/>
              </a:rPr>
              <a:t>bootstrapping</a:t>
            </a:r>
            <a:r>
              <a:rPr lang="en-GB" sz="1800" b="0" i="0" u="none" strike="noStrike" baseline="0" dirty="0">
                <a:solidFill>
                  <a:srgbClr val="000000"/>
                </a:solidFill>
                <a:latin typeface="IwonaCond-Regular"/>
              </a:rPr>
              <a:t>).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es-ES" noProof="0" smtClean="0"/>
              <a:t>14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7887985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effectLst/>
                <a:latin typeface="-apple-system"/>
              </a:rPr>
              <a:t>- The lake is slippery (unless disabled) so the player may move perpendicular to the intended direction sometimes (see </a:t>
            </a:r>
            <a:r>
              <a:rPr lang="en-US" b="0" i="0" dirty="0" err="1">
                <a:effectLst/>
                <a:latin typeface="-apple-system"/>
                <a:hlinkClick r:id="rId3"/>
              </a:rPr>
              <a:t>is_slippery</a:t>
            </a:r>
            <a:r>
              <a:rPr lang="en-US" b="0" i="0" dirty="0">
                <a:effectLst/>
                <a:latin typeface="-apple-system"/>
              </a:rPr>
              <a:t>).</a:t>
            </a:r>
          </a:p>
          <a:p>
            <a:pPr algn="l"/>
            <a:r>
              <a:rPr lang="en-US" b="0" i="0" dirty="0">
                <a:effectLst/>
                <a:latin typeface="-apple-system"/>
              </a:rPr>
              <a:t>- Randomly generated worlds will always have a path to the goal.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es-ES" noProof="0" smtClean="0"/>
              <a:t>15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7010756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F409C0D2-15DE-4FAC-845B-C48979FFAEB9}" type="datetime1">
              <a:rPr lang="es-ES" noProof="0" smtClean="0"/>
              <a:t>06/03/2025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7670FF6-52DC-429F-9C56-6A1BF295232E}" type="datetime1">
              <a:rPr lang="es-ES" noProof="0" smtClean="0"/>
              <a:t>06/03/2025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5E27922-51B6-4B96-9C28-2CD2060AE75A}" type="datetime1">
              <a:rPr lang="es-ES" noProof="0" smtClean="0"/>
              <a:t>06/03/2025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3ECF5D1-1C98-40FD-9D65-EED7644802B9}" type="datetime1">
              <a:rPr lang="es-ES" noProof="0" smtClean="0"/>
              <a:t>06/03/2025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556C746-EB55-4634-AD93-A9FF2473885C}" type="datetime1">
              <a:rPr lang="es-ES" noProof="0" smtClean="0"/>
              <a:t>06/03/2025</a:t>
            </a:fld>
            <a:endParaRPr lang="es-ES" noProof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9051F13-F75A-440F-BED7-E2004746A95F}" type="datetime1">
              <a:rPr lang="es-ES" noProof="0" smtClean="0"/>
              <a:t>06/03/2025</a:t>
            </a:fld>
            <a:endParaRPr lang="es-ES" noProof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  <p:sp>
        <p:nvSpPr>
          <p:cNvPr id="7" name="Rectángulo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7A2E7D-666A-420B-9042-959E1D47E21D}" type="datetime1">
              <a:rPr lang="es-ES" noProof="0" smtClean="0"/>
              <a:t>06/03/2025</a:t>
            </a:fld>
            <a:endParaRPr lang="es-ES" noProof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0403F12F-0E67-4CAB-8DFD-26DCD4A99D59}" type="datetime1">
              <a:rPr lang="es-ES" noProof="0" smtClean="0"/>
              <a:t>06/03/2025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709DA8C-1A59-4B91-B9EA-509377CD0E23}" type="datetime1">
              <a:rPr lang="es-ES" noProof="0" smtClean="0"/>
              <a:t>06/03/2025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CF9F163-DD03-4353-882E-CE0F9A80F1C3}" type="datetime1">
              <a:rPr lang="es-ES" noProof="0" smtClean="0"/>
              <a:t>06/03/2025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D2FF54C-EA2F-453C-857C-5C9ADB86CB43}" type="datetime1">
              <a:rPr lang="es-ES" noProof="0" smtClean="0"/>
              <a:t>06/03/2025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A3DF7BF2-42BB-439B-88AA-F60334FF1291}" type="datetime1">
              <a:rPr lang="es-ES" noProof="0" smtClean="0"/>
              <a:t>06/03/2025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  <p:sp>
        <p:nvSpPr>
          <p:cNvPr id="9" name="Rectángulo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ángulo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ángulo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ángulo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7" name="Imagen 6" descr="Conexiones digitale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upo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</p:grp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 rtlCol="0">
            <a:noAutofit/>
          </a:bodyPr>
          <a:lstStyle/>
          <a:p>
            <a:pPr rtl="0"/>
            <a:r>
              <a:rPr lang="es-ES" sz="6000" dirty="0">
                <a:solidFill>
                  <a:schemeClr val="bg1"/>
                </a:solidFill>
              </a:rPr>
              <a:t>Prácticas 1 + 2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 rtlCol="0">
            <a:normAutofit/>
          </a:bodyPr>
          <a:lstStyle/>
          <a:p>
            <a:pPr rtl="0"/>
            <a:r>
              <a:rPr lang="es-ES" dirty="0">
                <a:solidFill>
                  <a:srgbClr val="7CEBFF"/>
                </a:solidFill>
              </a:rPr>
              <a:t>EXTENSIONES DE MACHINE LEARNING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A663D56-62FE-E9F8-7D84-3E62A4E6B564}"/>
              </a:ext>
            </a:extLst>
          </p:cNvPr>
          <p:cNvSpPr txBox="1"/>
          <p:nvPr/>
        </p:nvSpPr>
        <p:spPr>
          <a:xfrm>
            <a:off x="7762131" y="4584311"/>
            <a:ext cx="353731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>
                <a:solidFill>
                  <a:schemeClr val="bg1"/>
                </a:solidFill>
              </a:rPr>
              <a:t>Andrés García </a:t>
            </a:r>
            <a:r>
              <a:rPr lang="es-ES" sz="2400" b="1" dirty="0" err="1">
                <a:solidFill>
                  <a:schemeClr val="bg1"/>
                </a:solidFill>
              </a:rPr>
              <a:t>Meroño</a:t>
            </a:r>
            <a:endParaRPr lang="es-ES" sz="2400" b="1" dirty="0">
              <a:solidFill>
                <a:schemeClr val="bg1"/>
              </a:solidFill>
            </a:endParaRPr>
          </a:p>
          <a:p>
            <a:r>
              <a:rPr lang="es-ES" sz="2400" b="1" dirty="0">
                <a:solidFill>
                  <a:schemeClr val="bg1"/>
                </a:solidFill>
              </a:rPr>
              <a:t>Pablo Guillén Marquina</a:t>
            </a:r>
          </a:p>
          <a:p>
            <a:r>
              <a:rPr lang="es-ES" sz="2400" b="1" dirty="0">
                <a:solidFill>
                  <a:schemeClr val="bg1"/>
                </a:solidFill>
              </a:rPr>
              <a:t>Alejandro Alonso Puig</a:t>
            </a:r>
          </a:p>
          <a:p>
            <a:pPr algn="ctr"/>
            <a:r>
              <a:rPr lang="es-ES" sz="2400" b="1" i="1" dirty="0">
                <a:solidFill>
                  <a:schemeClr val="bg2">
                    <a:lumMod val="75000"/>
                  </a:schemeClr>
                </a:solidFill>
              </a:rPr>
              <a:t>Grupo: AAPGAG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5286C0-0FBF-4802-0D01-1E9E44CFF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Practica 1. Bandido de k-brazos</a:t>
            </a:r>
            <a:br>
              <a:rPr lang="es-ES" dirty="0"/>
            </a:br>
            <a:endParaRPr lang="es-ES" dirty="0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63D55D34-240C-1604-E4DB-75EB543E331E}"/>
              </a:ext>
            </a:extLst>
          </p:cNvPr>
          <p:cNvSpPr txBox="1"/>
          <p:nvPr/>
        </p:nvSpPr>
        <p:spPr>
          <a:xfrm>
            <a:off x="434787" y="2268459"/>
            <a:ext cx="1132242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En este parte se analizan los algoritmos del bandido de k-brazos, comparando su rendimiento en entornos</a:t>
            </a:r>
          </a:p>
          <a:p>
            <a:r>
              <a:rPr lang="es-ES" dirty="0"/>
              <a:t>estacionarios. </a:t>
            </a:r>
          </a:p>
          <a:p>
            <a:endParaRPr lang="es-ES" dirty="0"/>
          </a:p>
          <a:p>
            <a:r>
              <a:rPr lang="es-ES" dirty="0"/>
              <a:t>Para ello se implementan varias familias de métodos: </a:t>
            </a:r>
          </a:p>
          <a:p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l-GR" b="1" dirty="0"/>
              <a:t>ε</a:t>
            </a:r>
            <a:r>
              <a:rPr lang="es-ES" b="1" dirty="0"/>
              <a:t>-</a:t>
            </a:r>
            <a:r>
              <a:rPr lang="es-ES" b="1" dirty="0" err="1"/>
              <a:t>Greedy</a:t>
            </a:r>
            <a:r>
              <a:rPr lang="es-ES" dirty="0"/>
              <a:t>: Selección basada en recompensa estimada con exploración controlada.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 err="1"/>
              <a:t>Upper</a:t>
            </a:r>
            <a:r>
              <a:rPr lang="es-ES" b="1" dirty="0"/>
              <a:t> </a:t>
            </a:r>
            <a:r>
              <a:rPr lang="es-ES" b="1" dirty="0" err="1"/>
              <a:t>Confidence</a:t>
            </a:r>
            <a:r>
              <a:rPr lang="es-ES" b="1" dirty="0"/>
              <a:t> </a:t>
            </a:r>
            <a:r>
              <a:rPr lang="es-ES" b="1" dirty="0" err="1"/>
              <a:t>Bound</a:t>
            </a:r>
            <a:r>
              <a:rPr lang="es-ES" b="1" dirty="0"/>
              <a:t> (UCB)</a:t>
            </a:r>
            <a:r>
              <a:rPr lang="es-ES" dirty="0"/>
              <a:t>: Uso de confianza estadística para balancear exploración.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Métodos de Gradiente</a:t>
            </a:r>
            <a:r>
              <a:rPr lang="es-ES" dirty="0"/>
              <a:t>: </a:t>
            </a:r>
            <a:r>
              <a:rPr lang="es-ES" dirty="0" err="1"/>
              <a:t>Softmax</a:t>
            </a:r>
            <a:r>
              <a:rPr lang="es-ES" dirty="0"/>
              <a:t> y Gradiente de Preferencias para actualización probabilística.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Métodos Bayesianos</a:t>
            </a:r>
            <a:r>
              <a:rPr lang="es-ES" dirty="0"/>
              <a:t>: Muestreo de Thompson y UCB Bayesiano con modelado de incertidumbre.</a:t>
            </a:r>
            <a:endParaRPr lang="en-GB" dirty="0"/>
          </a:p>
          <a:p>
            <a:endParaRPr lang="es-ES" dirty="0"/>
          </a:p>
          <a:p>
            <a:r>
              <a:rPr lang="es-ES" dirty="0"/>
              <a:t>evaluando las recompensas y rechazos acumulados.</a:t>
            </a:r>
          </a:p>
          <a:p>
            <a:endParaRPr lang="es-ES" dirty="0"/>
          </a:p>
          <a:p>
            <a:r>
              <a:rPr lang="es-ES" dirty="0"/>
              <a:t>Desafío principal: Equilibrio entre exploración y explotación.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C1297E-012A-4AC3-5A77-61010235B914}"/>
              </a:ext>
            </a:extLst>
          </p:cNvPr>
          <p:cNvSpPr txBox="1"/>
          <p:nvPr/>
        </p:nvSpPr>
        <p:spPr>
          <a:xfrm>
            <a:off x="63677" y="645324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47978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F091A-C799-34F5-5D19-678E5A70D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822305DE-8F84-40C8-4151-167AE6C12351}"/>
              </a:ext>
            </a:extLst>
          </p:cNvPr>
          <p:cNvSpPr/>
          <p:nvPr/>
        </p:nvSpPr>
        <p:spPr>
          <a:xfrm>
            <a:off x="2255896" y="0"/>
            <a:ext cx="419571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9A96CA6-CDE3-F89D-A6D0-36574FCE1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/>
              <a:t>IMPLEMENTACIÓN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FA2C9B72-A25C-6806-C64B-64715B939EEB}"/>
              </a:ext>
            </a:extLst>
          </p:cNvPr>
          <p:cNvSpPr txBox="1"/>
          <p:nvPr/>
        </p:nvSpPr>
        <p:spPr>
          <a:xfrm>
            <a:off x="3247927" y="2689001"/>
            <a:ext cx="85803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/>
              <a:t>algorithms</a:t>
            </a:r>
            <a:r>
              <a:rPr lang="es-ES" b="1" dirty="0"/>
              <a:t>/</a:t>
            </a:r>
            <a:r>
              <a:rPr lang="es-ES" dirty="0"/>
              <a:t> → Contiene las implementaciones de los algoritmos de decisión.</a:t>
            </a:r>
          </a:p>
          <a:p>
            <a:endParaRPr lang="es-ES" b="1" dirty="0"/>
          </a:p>
          <a:p>
            <a:r>
              <a:rPr lang="es-ES" b="1" dirty="0" err="1"/>
              <a:t>arms</a:t>
            </a:r>
            <a:r>
              <a:rPr lang="es-ES" b="1" dirty="0"/>
              <a:t>/</a:t>
            </a:r>
            <a:r>
              <a:rPr lang="es-ES" dirty="0"/>
              <a:t> → Contiene las diferentes distribuciones de brazos usadas en el estudio.  </a:t>
            </a:r>
          </a:p>
          <a:p>
            <a:endParaRPr lang="es-ES" b="1" dirty="0"/>
          </a:p>
          <a:p>
            <a:r>
              <a:rPr lang="es-ES" b="1" dirty="0" err="1"/>
              <a:t>plotting</a:t>
            </a:r>
            <a:r>
              <a:rPr lang="es-ES" b="1" dirty="0"/>
              <a:t>/ </a:t>
            </a:r>
            <a:r>
              <a:rPr lang="es-ES" dirty="0"/>
              <a:t>→ plotting.py implementa las gráficas de recompensa promedio, selección del brazo óptimo, estadísticas de brazos y </a:t>
            </a:r>
            <a:r>
              <a:rPr lang="es-ES" dirty="0" err="1"/>
              <a:t>regret</a:t>
            </a:r>
            <a:r>
              <a:rPr lang="es-ES" dirty="0"/>
              <a:t> acumulado.  </a:t>
            </a:r>
          </a:p>
          <a:p>
            <a:endParaRPr lang="es-ES" b="1" dirty="0"/>
          </a:p>
          <a:p>
            <a:r>
              <a:rPr lang="es-ES" b="1" dirty="0"/>
              <a:t>Raíz del Proyecto (`/`) </a:t>
            </a:r>
            <a:r>
              <a:rPr lang="es-ES" dirty="0"/>
              <a:t>→ Contiene los notebooks de los estudios realizados.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879C59-72D8-9707-023F-4954FEABAF57}"/>
              </a:ext>
            </a:extLst>
          </p:cNvPr>
          <p:cNvSpPr txBox="1"/>
          <p:nvPr/>
        </p:nvSpPr>
        <p:spPr>
          <a:xfrm>
            <a:off x="63677" y="645324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FA408AA-BE42-AD38-DBBF-417AC5AADC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1000" contrast="6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3759" y="0"/>
            <a:ext cx="1892137" cy="6858000"/>
          </a:xfrm>
          <a:prstGeom prst="rect">
            <a:avLst/>
          </a:prstGeom>
        </p:spPr>
      </p:pic>
      <p:sp>
        <p:nvSpPr>
          <p:cNvPr id="9" name="Cerrar llave 8">
            <a:extLst>
              <a:ext uri="{FF2B5EF4-FFF2-40B4-BE49-F238E27FC236}">
                <a16:creationId xmlns:a16="http://schemas.microsoft.com/office/drawing/2014/main" id="{12364244-97AF-C611-08BD-E4C03C195EE5}"/>
              </a:ext>
            </a:extLst>
          </p:cNvPr>
          <p:cNvSpPr/>
          <p:nvPr/>
        </p:nvSpPr>
        <p:spPr>
          <a:xfrm>
            <a:off x="2122314" y="702156"/>
            <a:ext cx="245532" cy="190557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Cerrar llave 9">
            <a:extLst>
              <a:ext uri="{FF2B5EF4-FFF2-40B4-BE49-F238E27FC236}">
                <a16:creationId xmlns:a16="http://schemas.microsoft.com/office/drawing/2014/main" id="{FD8920BD-5EB0-E5FE-B34C-7A8F4C36A853}"/>
              </a:ext>
            </a:extLst>
          </p:cNvPr>
          <p:cNvSpPr/>
          <p:nvPr/>
        </p:nvSpPr>
        <p:spPr>
          <a:xfrm>
            <a:off x="2122314" y="2689001"/>
            <a:ext cx="245532" cy="147659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errar llave 10">
            <a:extLst>
              <a:ext uri="{FF2B5EF4-FFF2-40B4-BE49-F238E27FC236}">
                <a16:creationId xmlns:a16="http://schemas.microsoft.com/office/drawing/2014/main" id="{61B72119-F0D7-AC65-9946-CD73D379D244}"/>
              </a:ext>
            </a:extLst>
          </p:cNvPr>
          <p:cNvSpPr/>
          <p:nvPr/>
        </p:nvSpPr>
        <p:spPr>
          <a:xfrm>
            <a:off x="2122314" y="4246868"/>
            <a:ext cx="245532" cy="72024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Cerrar llave 11">
            <a:extLst>
              <a:ext uri="{FF2B5EF4-FFF2-40B4-BE49-F238E27FC236}">
                <a16:creationId xmlns:a16="http://schemas.microsoft.com/office/drawing/2014/main" id="{E43808AF-EEDC-B349-8A89-7BEE467CC94E}"/>
              </a:ext>
            </a:extLst>
          </p:cNvPr>
          <p:cNvSpPr/>
          <p:nvPr/>
        </p:nvSpPr>
        <p:spPr>
          <a:xfrm>
            <a:off x="2122314" y="5435601"/>
            <a:ext cx="245532" cy="72024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92A455CD-533C-F7C6-4221-03DF4F44E319}"/>
              </a:ext>
            </a:extLst>
          </p:cNvPr>
          <p:cNvCxnSpPr/>
          <p:nvPr/>
        </p:nvCxnSpPr>
        <p:spPr>
          <a:xfrm flipH="1" flipV="1">
            <a:off x="2465681" y="1715956"/>
            <a:ext cx="782246" cy="1174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B5EF3A6E-6FF0-10A7-93E1-1FDC8F765507}"/>
              </a:ext>
            </a:extLst>
          </p:cNvPr>
          <p:cNvCxnSpPr/>
          <p:nvPr/>
        </p:nvCxnSpPr>
        <p:spPr>
          <a:xfrm flipH="1">
            <a:off x="2465681" y="3427300"/>
            <a:ext cx="7822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8BF8E493-849C-74F9-0E3A-C01BB04B7C84}"/>
              </a:ext>
            </a:extLst>
          </p:cNvPr>
          <p:cNvCxnSpPr/>
          <p:nvPr/>
        </p:nvCxnSpPr>
        <p:spPr>
          <a:xfrm flipH="1">
            <a:off x="2465681" y="4018844"/>
            <a:ext cx="782246" cy="588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37065C5B-66C2-9657-A717-F79B5B025ED9}"/>
              </a:ext>
            </a:extLst>
          </p:cNvPr>
          <p:cNvCxnSpPr/>
          <p:nvPr/>
        </p:nvCxnSpPr>
        <p:spPr>
          <a:xfrm flipH="1">
            <a:off x="2465681" y="4831644"/>
            <a:ext cx="782246" cy="964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7087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12F3B-CD26-39AF-B6FD-D9EE50125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E70DD5-23FA-D5BF-ED61-E28BA4FB7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/>
              <a:t>Estudio: </a:t>
            </a:r>
            <a:r>
              <a:rPr lang="el-GR" dirty="0"/>
              <a:t>ε-</a:t>
            </a:r>
            <a:r>
              <a:rPr lang="es-ES" dirty="0" err="1"/>
              <a:t>Greedy</a:t>
            </a:r>
            <a:br>
              <a:rPr lang="es-ES" dirty="0"/>
            </a:br>
            <a:endParaRPr lang="es-E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D0551-9C08-B27B-374F-1BEEA324BB36}"/>
              </a:ext>
            </a:extLst>
          </p:cNvPr>
          <p:cNvSpPr txBox="1"/>
          <p:nvPr/>
        </p:nvSpPr>
        <p:spPr>
          <a:xfrm>
            <a:off x="63677" y="645324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3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A23601A5-BFB2-0CB5-31A6-2D5A19AF1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35" y="702156"/>
            <a:ext cx="2719177" cy="1031605"/>
          </a:xfrm>
          <a:prstGeom prst="rect">
            <a:avLst/>
          </a:prstGeom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F589B5F9-04C6-9DE8-7753-4BDD19CB0B20}"/>
              </a:ext>
            </a:extLst>
          </p:cNvPr>
          <p:cNvSpPr txBox="1"/>
          <p:nvPr/>
        </p:nvSpPr>
        <p:spPr>
          <a:xfrm>
            <a:off x="520735" y="1937113"/>
            <a:ext cx="1132242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Exploración vs Explotación: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ε=0</a:t>
            </a:r>
            <a:r>
              <a:rPr lang="es-ES" b="1" dirty="0"/>
              <a:t> (</a:t>
            </a:r>
            <a:r>
              <a:rPr lang="es-ES" b="1" dirty="0" err="1"/>
              <a:t>Greedy</a:t>
            </a:r>
            <a:r>
              <a:rPr lang="es-ES" b="1" dirty="0"/>
              <a:t> puro)</a:t>
            </a:r>
            <a:r>
              <a:rPr lang="es-ES" dirty="0"/>
              <a:t> no explora en absoluto y se queda atrapado en la primera opción.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rgbClr val="FFC000"/>
                </a:solidFill>
              </a:rPr>
              <a:t>ε=0.01</a:t>
            </a:r>
            <a:r>
              <a:rPr lang="es-ES" dirty="0"/>
              <a:t> explora muy poco, mejorando lentamente con el tiempo.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accent6"/>
                </a:solidFill>
              </a:rPr>
              <a:t>ε=0.1</a:t>
            </a:r>
            <a:r>
              <a:rPr lang="es-ES" dirty="0"/>
              <a:t> encuentra rápidamente el mejor brazo y lo explota eficientemente.</a:t>
            </a:r>
          </a:p>
          <a:p>
            <a:r>
              <a:rPr lang="es-ES" b="1" dirty="0"/>
              <a:t>Selección del Brazo Óptimo: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Con </a:t>
            </a:r>
            <a:r>
              <a:rPr lang="es-ES" b="1" dirty="0">
                <a:solidFill>
                  <a:schemeClr val="accent6"/>
                </a:solidFill>
              </a:rPr>
              <a:t>ε=0.1</a:t>
            </a:r>
            <a:r>
              <a:rPr lang="es-ES" dirty="0"/>
              <a:t>, el brazo óptimo se selecciona el 80% del tiempo, mientras que con </a:t>
            </a:r>
            <a:r>
              <a:rPr lang="es-ES" b="1" dirty="0">
                <a:solidFill>
                  <a:srgbClr val="FFC000"/>
                </a:solidFill>
              </a:rPr>
              <a:t>ε=0.01</a:t>
            </a:r>
            <a:r>
              <a:rPr lang="es-ES" dirty="0"/>
              <a:t>, solo el 60%.</a:t>
            </a:r>
          </a:p>
          <a:p>
            <a:r>
              <a:rPr lang="es-ES" b="1" dirty="0" err="1"/>
              <a:t>Regret</a:t>
            </a:r>
            <a:r>
              <a:rPr lang="es-ES" b="1" dirty="0"/>
              <a:t> Acumulado: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ε=0</a:t>
            </a:r>
            <a:r>
              <a:rPr lang="es-ES" dirty="0"/>
              <a:t> tiene el peor desempeño, con un </a:t>
            </a:r>
            <a:r>
              <a:rPr lang="es-ES" dirty="0" err="1"/>
              <a:t>regret</a:t>
            </a:r>
            <a:r>
              <a:rPr lang="es-ES" dirty="0"/>
              <a:t> en constante crecimiento.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accent6"/>
                </a:solidFill>
              </a:rPr>
              <a:t>ε=0.1</a:t>
            </a:r>
            <a:r>
              <a:rPr lang="es-ES" dirty="0"/>
              <a:t> minimiza el </a:t>
            </a:r>
            <a:r>
              <a:rPr lang="es-ES" dirty="0" err="1"/>
              <a:t>regret</a:t>
            </a:r>
            <a:r>
              <a:rPr lang="es-ES" dirty="0"/>
              <a:t> rápidamente, estabilizándose en el menor valor.</a:t>
            </a:r>
          </a:p>
          <a:p>
            <a:endParaRPr lang="es-ES" dirty="0"/>
          </a:p>
          <a:p>
            <a:r>
              <a:rPr lang="es-ES" b="1" dirty="0"/>
              <a:t>Conclusión: </a:t>
            </a:r>
            <a:r>
              <a:rPr lang="es-ES" dirty="0"/>
              <a:t>El valor de </a:t>
            </a:r>
            <a:r>
              <a:rPr lang="es-ES" b="1" dirty="0">
                <a:solidFill>
                  <a:schemeClr val="accent6"/>
                </a:solidFill>
              </a:rPr>
              <a:t>ε=0.1</a:t>
            </a:r>
            <a:r>
              <a:rPr lang="es-ES" dirty="0"/>
              <a:t> logra el mejor equilibrio entre exploración y explotación, permitiendo encontrar el mejor brazo rápidamente y maximizando la recompensa a largo plazo. </a:t>
            </a:r>
          </a:p>
        </p:txBody>
      </p:sp>
    </p:spTree>
    <p:extLst>
      <p:ext uri="{BB962C8B-B14F-4D97-AF65-F5344CB8AC3E}">
        <p14:creationId xmlns:p14="http://schemas.microsoft.com/office/powerpoint/2010/main" val="2971670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12F3B-CD26-39AF-B6FD-D9EE50125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E70DD5-23FA-D5BF-ED61-E28BA4FB7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/>
              <a:t>Estudio: </a:t>
            </a:r>
            <a:r>
              <a:rPr lang="el-GR" dirty="0"/>
              <a:t>ε-</a:t>
            </a:r>
            <a:r>
              <a:rPr lang="es-ES" dirty="0" err="1"/>
              <a:t>Greedy</a:t>
            </a:r>
            <a:br>
              <a:rPr lang="es-ES" dirty="0"/>
            </a:br>
            <a:endParaRPr lang="es-E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D0551-9C08-B27B-374F-1BEEA324BB36}"/>
              </a:ext>
            </a:extLst>
          </p:cNvPr>
          <p:cNvSpPr txBox="1"/>
          <p:nvPr/>
        </p:nvSpPr>
        <p:spPr>
          <a:xfrm>
            <a:off x="63677" y="645324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4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316391C-E87A-E0E5-F50E-864AB6E48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5339" y="1360659"/>
            <a:ext cx="5619491" cy="270006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9A9F6CF-7483-B3BB-AA90-FA8DA3231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759" y="1360659"/>
            <a:ext cx="5495994" cy="270006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F24DC07-B582-AE67-A9F6-D2D7A1BCFC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755" y="4060726"/>
            <a:ext cx="5495998" cy="270006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2109FC2-2F1F-4647-1EE5-174DF36ED3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4000058"/>
            <a:ext cx="5619491" cy="276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674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0AC39-FC65-F811-A921-E2E21DDC5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2DEF95-F98C-A839-C5EB-441C4E551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/>
              <a:t>Estudio: UCB1 vs UCB2</a:t>
            </a:r>
            <a:br>
              <a:rPr lang="es-ES" dirty="0"/>
            </a:br>
            <a:endParaRPr lang="es-E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8DBE50-4790-CC01-E624-FE8CB160A7CA}"/>
              </a:ext>
            </a:extLst>
          </p:cNvPr>
          <p:cNvSpPr txBox="1"/>
          <p:nvPr/>
        </p:nvSpPr>
        <p:spPr>
          <a:xfrm>
            <a:off x="63677" y="645324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5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2F2A738C-AE73-B7A6-C7B1-8418C77D1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35" y="702156"/>
            <a:ext cx="2719177" cy="1031605"/>
          </a:xfrm>
          <a:prstGeom prst="rect">
            <a:avLst/>
          </a:prstGeom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13C16F9F-E193-955B-B18B-3E472320B968}"/>
              </a:ext>
            </a:extLst>
          </p:cNvPr>
          <p:cNvSpPr txBox="1"/>
          <p:nvPr/>
        </p:nvSpPr>
        <p:spPr>
          <a:xfrm>
            <a:off x="434787" y="1939935"/>
            <a:ext cx="113224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Exploración y Estabilización: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rgbClr val="FF6600"/>
                </a:solidFill>
              </a:rPr>
              <a:t>UCB2</a:t>
            </a:r>
            <a:r>
              <a:rPr lang="es-ES" b="1" dirty="0"/>
              <a:t> </a:t>
            </a:r>
            <a:r>
              <a:rPr lang="es-ES" dirty="0"/>
              <a:t>explora mejor al inicio, obteniendo una mayor recompensa en las primeras etapas.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UCB1</a:t>
            </a:r>
            <a:r>
              <a:rPr lang="es-ES" b="1" dirty="0"/>
              <a:t> </a:t>
            </a:r>
            <a:r>
              <a:rPr lang="es-ES" dirty="0"/>
              <a:t>se estabiliza antes, logrando un porcentaje de selección óptima más alto en el largo plazo.</a:t>
            </a:r>
          </a:p>
          <a:p>
            <a:r>
              <a:rPr lang="es-ES" b="1" dirty="0"/>
              <a:t>Selección del Brazo Óptimo: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Ambos algoritmos identifican correctamente el brazo 7 como el óptimo.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UCB1</a:t>
            </a:r>
            <a:r>
              <a:rPr lang="es-ES" dirty="0"/>
              <a:t> lo selecciona con más frecuencia en el largo plazo (99%), mientras que </a:t>
            </a:r>
            <a:r>
              <a:rPr lang="es-ES" b="1" dirty="0">
                <a:solidFill>
                  <a:srgbClr val="FF6600"/>
                </a:solidFill>
              </a:rPr>
              <a:t>UCB2 </a:t>
            </a:r>
            <a:r>
              <a:rPr lang="es-ES" dirty="0"/>
              <a:t>mantiene una exploración residual (~93%).</a:t>
            </a:r>
          </a:p>
          <a:p>
            <a:r>
              <a:rPr lang="es-ES" b="1" dirty="0" err="1"/>
              <a:t>Regret</a:t>
            </a:r>
            <a:r>
              <a:rPr lang="es-ES" b="1" dirty="0"/>
              <a:t> Acumulado: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UCB1</a:t>
            </a:r>
            <a:r>
              <a:rPr lang="es-ES" b="1" dirty="0"/>
              <a:t> </a:t>
            </a:r>
            <a:r>
              <a:rPr lang="es-ES" dirty="0"/>
              <a:t>minimiza mejor el </a:t>
            </a:r>
            <a:r>
              <a:rPr lang="es-ES" dirty="0" err="1"/>
              <a:t>regret</a:t>
            </a:r>
            <a:r>
              <a:rPr lang="es-ES" dirty="0"/>
              <a:t>, ya que reduce la exploración tras identificar el mejor brazo.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rgbClr val="FF6600"/>
                </a:solidFill>
              </a:rPr>
              <a:t>UCB2</a:t>
            </a:r>
            <a:r>
              <a:rPr lang="es-ES" b="1" dirty="0"/>
              <a:t> </a:t>
            </a:r>
            <a:r>
              <a:rPr lang="es-ES" dirty="0"/>
              <a:t>mantiene un </a:t>
            </a:r>
            <a:r>
              <a:rPr lang="es-ES" dirty="0" err="1"/>
              <a:t>regret</a:t>
            </a:r>
            <a:r>
              <a:rPr lang="es-ES" dirty="0"/>
              <a:t> creciente, debido a su estrategia de exploración en fases más largas.</a:t>
            </a:r>
          </a:p>
          <a:p>
            <a:endParaRPr lang="es-ES" sz="1100" b="1" dirty="0"/>
          </a:p>
          <a:p>
            <a:r>
              <a:rPr lang="es-ES" b="1" dirty="0"/>
              <a:t>Conclusión: </a:t>
            </a:r>
            <a:r>
              <a:rPr lang="es-ES" b="1" dirty="0">
                <a:solidFill>
                  <a:srgbClr val="FF6600"/>
                </a:solidFill>
              </a:rPr>
              <a:t>UCB2 </a:t>
            </a:r>
            <a:r>
              <a:rPr lang="es-ES" dirty="0"/>
              <a:t>explora mejor al inicio, lo que puede ser útil cuando hay mucha incertidumbre, pero </a:t>
            </a:r>
            <a:r>
              <a:rPr lang="es-E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UCB1</a:t>
            </a:r>
            <a:r>
              <a:rPr lang="es-ES" b="1" dirty="0"/>
              <a:t> </a:t>
            </a:r>
            <a:r>
              <a:rPr lang="es-ES" dirty="0"/>
              <a:t>logra un mejor rendimiento final al centrarse en la explotación del mejor brazo. 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53053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0AC39-FC65-F811-A921-E2E21DDC5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2DEF95-F98C-A839-C5EB-441C4E551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/>
              <a:t>Estudio: UCB1 vs UCB2</a:t>
            </a:r>
            <a:br>
              <a:rPr lang="es-ES" dirty="0"/>
            </a:br>
            <a:endParaRPr lang="es-E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8DBE50-4790-CC01-E624-FE8CB160A7CA}"/>
              </a:ext>
            </a:extLst>
          </p:cNvPr>
          <p:cNvSpPr txBox="1"/>
          <p:nvPr/>
        </p:nvSpPr>
        <p:spPr>
          <a:xfrm>
            <a:off x="63677" y="645324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6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B34BCAC-2EC3-9168-1623-E9B1BEB6B7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215098" y="1316509"/>
            <a:ext cx="5531682" cy="27176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A41556D-3F51-13F4-C13C-1229A97801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3759" y="1316509"/>
            <a:ext cx="5531684" cy="27176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B890B55-34EA-7B59-AFEA-506F644D1B4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5220" y="4034109"/>
            <a:ext cx="5461308" cy="268302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255D0FE5-2782-1B59-738D-6F02A66989F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15098" y="4034109"/>
            <a:ext cx="5591231" cy="2746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940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838E3-C3EB-D0C0-869B-4B78D76CC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88D186-6C32-BB4A-A9F1-167FE2EDA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/>
              <a:t>Estudio:  Ascenso del gradiente</a:t>
            </a:r>
            <a:br>
              <a:rPr lang="es-ES" dirty="0"/>
            </a:br>
            <a:r>
              <a:rPr lang="es-ES" dirty="0"/>
              <a:t>(</a:t>
            </a:r>
            <a:r>
              <a:rPr lang="es-ES" dirty="0" err="1"/>
              <a:t>Softmax</a:t>
            </a:r>
            <a:r>
              <a:rPr lang="es-ES" dirty="0"/>
              <a:t> vs Gradiente de Preferencias)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8F434D-F79B-DCFF-0D44-B7B80C7B2930}"/>
              </a:ext>
            </a:extLst>
          </p:cNvPr>
          <p:cNvSpPr txBox="1"/>
          <p:nvPr/>
        </p:nvSpPr>
        <p:spPr>
          <a:xfrm>
            <a:off x="63677" y="645324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7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34FD3F09-19A7-D762-C7CF-C49833D66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35" y="702156"/>
            <a:ext cx="2719177" cy="1031605"/>
          </a:xfrm>
          <a:prstGeom prst="rect">
            <a:avLst/>
          </a:prstGeom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38987E77-A52A-3E21-AA42-C6AA09D1E416}"/>
              </a:ext>
            </a:extLst>
          </p:cNvPr>
          <p:cNvSpPr txBox="1"/>
          <p:nvPr/>
        </p:nvSpPr>
        <p:spPr>
          <a:xfrm>
            <a:off x="434787" y="2072580"/>
            <a:ext cx="1132242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Rendimiento General: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 err="1">
                <a:solidFill>
                  <a:srgbClr val="FF6600"/>
                </a:solidFill>
              </a:rPr>
              <a:t>PreferenceGradient</a:t>
            </a:r>
            <a:r>
              <a:rPr lang="es-ES" b="1" dirty="0">
                <a:solidFill>
                  <a:srgbClr val="FF6600"/>
                </a:solidFill>
              </a:rPr>
              <a:t> (α=1.0)</a:t>
            </a:r>
            <a:r>
              <a:rPr lang="es-ES" b="1" dirty="0"/>
              <a:t> </a:t>
            </a:r>
            <a:r>
              <a:rPr lang="es-ES" dirty="0"/>
              <a:t>aprende mejor y alcanza mayor recompensa (~0.88), mientras que </a:t>
            </a:r>
            <a:r>
              <a:rPr lang="es-ES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Softmax</a:t>
            </a:r>
            <a:r>
              <a:rPr lang="es-E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(τ=1.5)</a:t>
            </a:r>
            <a:r>
              <a:rPr lang="es-ES" b="1" dirty="0"/>
              <a:t> </a:t>
            </a:r>
            <a:r>
              <a:rPr lang="es-ES" dirty="0"/>
              <a:t>sigue explorando y se mantiene en valores más bajos (~0.73).</a:t>
            </a:r>
          </a:p>
          <a:p>
            <a:r>
              <a:rPr lang="es-ES" b="1" dirty="0"/>
              <a:t>Selección del Brazo Óptimo: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 err="1">
                <a:solidFill>
                  <a:srgbClr val="FF6600"/>
                </a:solidFill>
              </a:rPr>
              <a:t>PreferenceGradient</a:t>
            </a:r>
            <a:r>
              <a:rPr lang="es-ES" b="1" dirty="0"/>
              <a:t> </a:t>
            </a:r>
            <a:r>
              <a:rPr lang="es-ES" dirty="0"/>
              <a:t>converge mejor, seleccionando el brazo óptimo en más del 50% de los casos.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Softmax</a:t>
            </a:r>
            <a:r>
              <a:rPr lang="es-ES" b="1" dirty="0"/>
              <a:t> </a:t>
            </a:r>
            <a:r>
              <a:rPr lang="es-ES" dirty="0"/>
              <a:t>mantiene una exploración constante, lo que reduce su tasa de selección óptima (~20%).</a:t>
            </a:r>
          </a:p>
          <a:p>
            <a:r>
              <a:rPr lang="es-ES" b="1" dirty="0" err="1"/>
              <a:t>Regret</a:t>
            </a:r>
            <a:r>
              <a:rPr lang="es-ES" b="1" dirty="0"/>
              <a:t> Acumulado: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 err="1">
                <a:solidFill>
                  <a:srgbClr val="FF6600"/>
                </a:solidFill>
              </a:rPr>
              <a:t>PreferenceGradient</a:t>
            </a:r>
            <a:r>
              <a:rPr lang="es-ES" b="1" dirty="0"/>
              <a:t> </a:t>
            </a:r>
            <a:r>
              <a:rPr lang="es-ES" dirty="0"/>
              <a:t>minimiza mejor el </a:t>
            </a:r>
            <a:r>
              <a:rPr lang="es-ES" dirty="0" err="1"/>
              <a:t>regret</a:t>
            </a:r>
            <a:r>
              <a:rPr lang="es-ES" dirty="0"/>
              <a:t>, indicando que toma decisiones más óptimas con el tiempo.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Softmax</a:t>
            </a:r>
            <a:r>
              <a:rPr lang="es-ES" b="1" dirty="0"/>
              <a:t> </a:t>
            </a:r>
            <a:r>
              <a:rPr lang="es-ES" dirty="0"/>
              <a:t>tarda en converger, lo que aumenta su </a:t>
            </a:r>
            <a:r>
              <a:rPr lang="es-ES" dirty="0" err="1"/>
              <a:t>regret</a:t>
            </a:r>
            <a:r>
              <a:rPr lang="es-ES" dirty="0"/>
              <a:t> debido a exploración prolongada.</a:t>
            </a:r>
          </a:p>
          <a:p>
            <a:endParaRPr lang="es-ES" b="1" dirty="0"/>
          </a:p>
          <a:p>
            <a:r>
              <a:rPr lang="es-ES" b="1" dirty="0"/>
              <a:t>Conclusión: </a:t>
            </a:r>
            <a:r>
              <a:rPr lang="es-ES" dirty="0"/>
              <a:t>En este experimento, </a:t>
            </a:r>
            <a:r>
              <a:rPr lang="es-ES" b="1" dirty="0" err="1">
                <a:solidFill>
                  <a:srgbClr val="FF6600"/>
                </a:solidFill>
              </a:rPr>
              <a:t>PreferenceGradient</a:t>
            </a:r>
            <a:r>
              <a:rPr lang="es-ES" b="1" dirty="0"/>
              <a:t> </a:t>
            </a:r>
            <a:r>
              <a:rPr lang="es-ES" dirty="0"/>
              <a:t>es superior en la identificación y explotación del mejor brazo, mientras que </a:t>
            </a:r>
            <a:r>
              <a:rPr lang="es-ES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Softmax</a:t>
            </a:r>
            <a:r>
              <a:rPr lang="es-ES" b="1" dirty="0"/>
              <a:t> </a:t>
            </a:r>
            <a:r>
              <a:rPr lang="es-ES" dirty="0"/>
              <a:t>sigue explorando demasiado y no logra optimizar la selección óptima. </a:t>
            </a:r>
          </a:p>
          <a:p>
            <a:r>
              <a:rPr lang="es-E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24376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838E3-C3EB-D0C0-869B-4B78D76CC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88D186-6C32-BB4A-A9F1-167FE2EDA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/>
              <a:t>Estudio:  Ascenso del gradiente</a:t>
            </a:r>
            <a:br>
              <a:rPr lang="es-ES" dirty="0"/>
            </a:br>
            <a:r>
              <a:rPr lang="es-ES" dirty="0"/>
              <a:t>(</a:t>
            </a:r>
            <a:r>
              <a:rPr lang="es-ES" dirty="0" err="1"/>
              <a:t>Softmax</a:t>
            </a:r>
            <a:r>
              <a:rPr lang="es-ES" dirty="0"/>
              <a:t> vs  Gradiente de Preferencias)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8F434D-F79B-DCFF-0D44-B7B80C7B2930}"/>
              </a:ext>
            </a:extLst>
          </p:cNvPr>
          <p:cNvSpPr txBox="1"/>
          <p:nvPr/>
        </p:nvSpPr>
        <p:spPr>
          <a:xfrm>
            <a:off x="63677" y="6453249"/>
            <a:ext cx="3000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8</a:t>
            </a:r>
          </a:p>
          <a:p>
            <a:endParaRPr lang="en-GB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F97E35C-27F4-9A71-832F-2C678F5122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284952" y="1232667"/>
            <a:ext cx="5531026" cy="271727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89F0F0E-CC20-A269-DE7C-4ED246A80F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6022" y="1205068"/>
            <a:ext cx="5587206" cy="274487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4D1BC59-656E-E514-85EE-DDB1A225076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27396" y="3949944"/>
            <a:ext cx="5578952" cy="274487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615D5324-0845-2513-CD5C-FC22991A33F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93068" y="3949944"/>
            <a:ext cx="5531027" cy="2717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578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E6103-DC8C-595B-3B3E-1EC4395A2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FF4F1E-45C5-D05B-6FAB-507D9DA7F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/>
              <a:t>Estudio:  algoritmos Bayesianos</a:t>
            </a:r>
            <a:br>
              <a:rPr lang="es-ES" dirty="0"/>
            </a:br>
            <a:r>
              <a:rPr lang="es-ES" dirty="0"/>
              <a:t>(Muestreo de Thompson y UCB Bayesiano)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179F75-D9C0-4E56-2526-A1D5004B1082}"/>
              </a:ext>
            </a:extLst>
          </p:cNvPr>
          <p:cNvSpPr txBox="1"/>
          <p:nvPr/>
        </p:nvSpPr>
        <p:spPr>
          <a:xfrm>
            <a:off x="63677" y="645324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9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C22B0281-ADB6-2945-3EF4-355ACEF2E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35" y="702156"/>
            <a:ext cx="2719177" cy="1031605"/>
          </a:xfrm>
          <a:prstGeom prst="rect">
            <a:avLst/>
          </a:prstGeom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4DBC914E-D265-08F0-282E-11160606B32D}"/>
              </a:ext>
            </a:extLst>
          </p:cNvPr>
          <p:cNvSpPr txBox="1"/>
          <p:nvPr/>
        </p:nvSpPr>
        <p:spPr>
          <a:xfrm>
            <a:off x="434787" y="2055646"/>
            <a:ext cx="113224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Rendimiento General: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Thompson </a:t>
            </a:r>
            <a:r>
              <a:rPr lang="es-ES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Sampling</a:t>
            </a:r>
            <a:r>
              <a:rPr lang="es-ES" dirty="0"/>
              <a:t> mejora progresivamente, partiendo de una recompensa baja y alcanzando valores ~0.70.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 err="1">
                <a:solidFill>
                  <a:srgbClr val="FF6600"/>
                </a:solidFill>
              </a:rPr>
              <a:t>Bayesian</a:t>
            </a:r>
            <a:r>
              <a:rPr lang="es-ES" b="1" dirty="0">
                <a:solidFill>
                  <a:srgbClr val="FF6600"/>
                </a:solidFill>
              </a:rPr>
              <a:t> UCB</a:t>
            </a:r>
            <a:r>
              <a:rPr lang="es-ES" b="1" dirty="0"/>
              <a:t> </a:t>
            </a:r>
            <a:r>
              <a:rPr lang="es-ES" dirty="0"/>
              <a:t>mantiene recompensas estables desde inicio (~0.67-0.69), favoreciendo explotación temprana.</a:t>
            </a:r>
          </a:p>
          <a:p>
            <a:r>
              <a:rPr lang="es-ES" b="1" dirty="0"/>
              <a:t>Selección del Brazo Óptimo: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 err="1">
                <a:solidFill>
                  <a:srgbClr val="FF6600"/>
                </a:solidFill>
              </a:rPr>
              <a:t>Bayesian</a:t>
            </a:r>
            <a:r>
              <a:rPr lang="es-ES" b="1" dirty="0">
                <a:solidFill>
                  <a:srgbClr val="FF6600"/>
                </a:solidFill>
              </a:rPr>
              <a:t> UCB</a:t>
            </a:r>
            <a:r>
              <a:rPr lang="es-ES" b="1" dirty="0"/>
              <a:t> </a:t>
            </a:r>
            <a:r>
              <a:rPr lang="es-ES" dirty="0"/>
              <a:t>selecciona el brazo óptimo rápidamente (~90%) y se mantiene estable.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Thompson </a:t>
            </a:r>
            <a:r>
              <a:rPr lang="es-ES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Sampling</a:t>
            </a:r>
            <a:r>
              <a:rPr lang="es-ES" b="1" dirty="0"/>
              <a:t> </a:t>
            </a:r>
            <a:r>
              <a:rPr lang="es-ES" dirty="0"/>
              <a:t>requiere más exploración inicial, pero eventualmente alcanza niveles similares (~93%).</a:t>
            </a:r>
          </a:p>
          <a:p>
            <a:r>
              <a:rPr lang="es-ES" b="1" dirty="0" err="1"/>
              <a:t>Regret</a:t>
            </a:r>
            <a:r>
              <a:rPr lang="es-ES" b="1" dirty="0"/>
              <a:t> Acumulado: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 err="1">
                <a:solidFill>
                  <a:srgbClr val="FF6600"/>
                </a:solidFill>
              </a:rPr>
              <a:t>Bayesian</a:t>
            </a:r>
            <a:r>
              <a:rPr lang="es-ES" b="1" dirty="0">
                <a:solidFill>
                  <a:srgbClr val="FF6600"/>
                </a:solidFill>
              </a:rPr>
              <a:t> UCB</a:t>
            </a:r>
            <a:r>
              <a:rPr lang="es-ES" b="1" dirty="0"/>
              <a:t> </a:t>
            </a:r>
            <a:r>
              <a:rPr lang="es-ES" dirty="0"/>
              <a:t>minimiza el </a:t>
            </a:r>
            <a:r>
              <a:rPr lang="es-ES" dirty="0" err="1"/>
              <a:t>regret</a:t>
            </a:r>
            <a:r>
              <a:rPr lang="es-ES" dirty="0"/>
              <a:t> rápidamente, aprovechando el mejor brazo desde temprano.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Thompson </a:t>
            </a:r>
            <a:r>
              <a:rPr lang="es-ES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Sampling</a:t>
            </a:r>
            <a:r>
              <a:rPr lang="es-ES" b="1" dirty="0"/>
              <a:t> </a:t>
            </a:r>
            <a:r>
              <a:rPr lang="es-ES" dirty="0"/>
              <a:t>explora más, acumulando mayor </a:t>
            </a:r>
            <a:r>
              <a:rPr lang="es-ES" dirty="0" err="1"/>
              <a:t>regret</a:t>
            </a:r>
            <a:r>
              <a:rPr lang="es-ES" dirty="0"/>
              <a:t> inicialmente, pero mejora con el tiempo.</a:t>
            </a:r>
          </a:p>
          <a:p>
            <a:endParaRPr lang="es-ES" sz="1050" b="1" dirty="0"/>
          </a:p>
          <a:p>
            <a:r>
              <a:rPr lang="es-ES" b="1" dirty="0"/>
              <a:t>Conclusión: </a:t>
            </a:r>
            <a:r>
              <a:rPr lang="es-ES" b="1" dirty="0" err="1">
                <a:solidFill>
                  <a:srgbClr val="FF6600"/>
                </a:solidFill>
              </a:rPr>
              <a:t>Bayesian</a:t>
            </a:r>
            <a:r>
              <a:rPr lang="es-ES" b="1" dirty="0">
                <a:solidFill>
                  <a:srgbClr val="FF6600"/>
                </a:solidFill>
              </a:rPr>
              <a:t> UCB</a:t>
            </a:r>
            <a:r>
              <a:rPr lang="es-ES" dirty="0"/>
              <a:t> es más eficiente si se busca explotar rápido el mejor brazo, pero sugiere ajustar γ para permitir más exploración en problemas con mayor incertidumbre. </a:t>
            </a:r>
            <a:r>
              <a:rPr lang="es-E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Thompson </a:t>
            </a:r>
            <a:r>
              <a:rPr lang="es-ES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Sampling</a:t>
            </a:r>
            <a:r>
              <a:rPr lang="es-ES" dirty="0"/>
              <a:t>, en cambio, aprende más progresivamente, lo que puede ser beneficioso en entornos dinámicos o desconocidos.</a:t>
            </a:r>
          </a:p>
          <a:p>
            <a:r>
              <a:rPr lang="es-E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90031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E6103-DC8C-595B-3B3E-1EC4395A2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FF4F1E-45C5-D05B-6FAB-507D9DA7F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/>
              <a:t>Estudio:  algoritmos Bayesianos</a:t>
            </a:r>
            <a:br>
              <a:rPr lang="es-ES" dirty="0"/>
            </a:br>
            <a:r>
              <a:rPr lang="es-ES" dirty="0"/>
              <a:t>(Muestreo de Thompson y UCB Bayesiano)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179F75-D9C0-4E56-2526-A1D5004B1082}"/>
              </a:ext>
            </a:extLst>
          </p:cNvPr>
          <p:cNvSpPr txBox="1"/>
          <p:nvPr/>
        </p:nvSpPr>
        <p:spPr>
          <a:xfrm>
            <a:off x="63677" y="645324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10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90AB146-FD49-1D75-0639-C91CA08C1C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266257" y="1209055"/>
            <a:ext cx="5483801" cy="269407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5B17535-937C-206D-AD83-68D0F7EDA6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1942" y="1209056"/>
            <a:ext cx="5483803" cy="269407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DEBBE8D-7DF3-011C-A42A-32EE6CE144F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1943" y="3903132"/>
            <a:ext cx="5483801" cy="2698062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7BAB105-89F1-35C1-B4A7-CCC8EE15C34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66257" y="3907117"/>
            <a:ext cx="5483801" cy="2694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464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0D1A7-FC69-9395-FE35-024407FB1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565627-4502-CF73-80D4-3AA6F14CE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PRACTICA 2. Aprendizaje en entornos complejos</a:t>
            </a:r>
            <a:br>
              <a:rPr lang="es-ES" dirty="0"/>
            </a:br>
            <a:endParaRPr lang="es-E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C2D2DD-A07B-8EC1-1BF9-11D837B0680E}"/>
              </a:ext>
            </a:extLst>
          </p:cNvPr>
          <p:cNvSpPr txBox="1"/>
          <p:nvPr/>
        </p:nvSpPr>
        <p:spPr>
          <a:xfrm>
            <a:off x="63677" y="645324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11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57B7BE9-324F-2382-7919-E4A29EE9D1CA}"/>
              </a:ext>
            </a:extLst>
          </p:cNvPr>
          <p:cNvSpPr txBox="1"/>
          <p:nvPr/>
        </p:nvSpPr>
        <p:spPr>
          <a:xfrm>
            <a:off x="434787" y="2149926"/>
            <a:ext cx="1132242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En este parte, de entre los </a:t>
            </a:r>
            <a:r>
              <a:rPr lang="es-ES"/>
              <a:t>métodos tabulares, </a:t>
            </a:r>
            <a:r>
              <a:rPr lang="es-ES" dirty="0"/>
              <a:t>se analizan las diferentes técnicas de Monte Carlo (</a:t>
            </a:r>
            <a:r>
              <a:rPr lang="es-ES" i="1" dirty="0" err="1"/>
              <a:t>on-policy</a:t>
            </a:r>
            <a:r>
              <a:rPr lang="es-ES" dirty="0"/>
              <a:t> vs </a:t>
            </a:r>
            <a:r>
              <a:rPr lang="es-ES" i="1" dirty="0"/>
              <a:t>off-</a:t>
            </a:r>
            <a:r>
              <a:rPr lang="es-ES" i="1" dirty="0" err="1"/>
              <a:t>policy</a:t>
            </a:r>
            <a:r>
              <a:rPr lang="es-ES" dirty="0"/>
              <a:t>), comparando su rendimiento en entornos estacionarios discretos y continuos.  Además, también se analizan las diferencias temporales, con técnicas como SARSA o Q-</a:t>
            </a:r>
            <a:r>
              <a:rPr lang="es-ES" dirty="0" err="1"/>
              <a:t>learning</a:t>
            </a:r>
            <a:r>
              <a:rPr lang="es-ES" dirty="0"/>
              <a:t>.</a:t>
            </a:r>
          </a:p>
          <a:p>
            <a:endParaRPr lang="es-ES" dirty="0"/>
          </a:p>
          <a:p>
            <a:r>
              <a:rPr lang="es-ES" dirty="0"/>
              <a:t>Para la primera parte, se implementan varias familias de métodos de Monte Carlo: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 err="1"/>
              <a:t>On-policy</a:t>
            </a:r>
            <a:r>
              <a:rPr lang="es-ES" dirty="0"/>
              <a:t>: Evalúan o mejoran la política que se utiliza para tomar decisiones.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Off-</a:t>
            </a:r>
            <a:r>
              <a:rPr lang="es-ES" b="1" dirty="0" err="1"/>
              <a:t>policy</a:t>
            </a:r>
            <a:r>
              <a:rPr lang="es-ES" b="1" dirty="0"/>
              <a:t>:</a:t>
            </a:r>
            <a:r>
              <a:rPr lang="es-ES" dirty="0"/>
              <a:t> Evalúan o mejoran una política diferente a la que se utiliza para generar los datos.</a:t>
            </a:r>
          </a:p>
          <a:p>
            <a:r>
              <a:rPr lang="es-ES" dirty="0"/>
              <a:t>De las familias anteriores, se implementan </a:t>
            </a:r>
            <a:r>
              <a:rPr lang="es-ES" i="1" dirty="0" err="1"/>
              <a:t>first</a:t>
            </a:r>
            <a:r>
              <a:rPr lang="es-ES" i="1" dirty="0"/>
              <a:t> </a:t>
            </a:r>
            <a:r>
              <a:rPr lang="es-ES" i="1" dirty="0" err="1"/>
              <a:t>visit</a:t>
            </a:r>
            <a:r>
              <a:rPr lang="es-ES" i="1" dirty="0"/>
              <a:t> </a:t>
            </a:r>
            <a:r>
              <a:rPr lang="es-ES" dirty="0"/>
              <a:t>y </a:t>
            </a:r>
            <a:r>
              <a:rPr lang="es-ES" i="1" dirty="0" err="1"/>
              <a:t>all</a:t>
            </a:r>
            <a:r>
              <a:rPr lang="es-ES" i="1" dirty="0"/>
              <a:t> </a:t>
            </a:r>
            <a:r>
              <a:rPr lang="es-ES" i="1" dirty="0" err="1"/>
              <a:t>visits</a:t>
            </a:r>
            <a:r>
              <a:rPr lang="es-ES" i="1" dirty="0"/>
              <a:t> </a:t>
            </a:r>
            <a:r>
              <a:rPr lang="es-ES" dirty="0"/>
              <a:t>para </a:t>
            </a:r>
            <a:r>
              <a:rPr lang="es-ES" dirty="0" err="1"/>
              <a:t>on-policy</a:t>
            </a:r>
            <a:r>
              <a:rPr lang="es-ES" dirty="0"/>
              <a:t>, mientras que para </a:t>
            </a:r>
            <a:r>
              <a:rPr lang="es-ES" i="1" dirty="0"/>
              <a:t>off-</a:t>
            </a:r>
            <a:r>
              <a:rPr lang="es-ES" i="1" dirty="0" err="1"/>
              <a:t>policy</a:t>
            </a:r>
            <a:r>
              <a:rPr lang="es-ES" dirty="0"/>
              <a:t> se implementa con una política </a:t>
            </a:r>
            <a:r>
              <a:rPr lang="el-GR" dirty="0"/>
              <a:t>π</a:t>
            </a:r>
            <a:r>
              <a:rPr lang="es-ES" dirty="0"/>
              <a:t>.</a:t>
            </a:r>
          </a:p>
          <a:p>
            <a:r>
              <a:rPr lang="es-ES" dirty="0"/>
              <a:t> </a:t>
            </a:r>
          </a:p>
          <a:p>
            <a:r>
              <a:rPr lang="es-ES" dirty="0"/>
              <a:t>Para la segunda parte, se implementan SARSA y Q-</a:t>
            </a:r>
            <a:r>
              <a:rPr lang="es-ES" dirty="0" err="1"/>
              <a:t>learning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00162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AC0D1A7-FC69-9395-FE35-024407FB1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565627-4502-CF73-80D4-3AA6F14CE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es-ES" dirty="0"/>
              <a:t>Monte </a:t>
            </a:r>
            <a:r>
              <a:rPr lang="es-ES" dirty="0" err="1"/>
              <a:t>carlo</a:t>
            </a:r>
            <a:r>
              <a:rPr lang="es-ES" dirty="0"/>
              <a:t> – </a:t>
            </a:r>
            <a:r>
              <a:rPr lang="es-ES" dirty="0" err="1"/>
              <a:t>InTRODUCCIÓN</a:t>
            </a:r>
            <a:br>
              <a:rPr lang="es-ES" dirty="0"/>
            </a:br>
            <a:endParaRPr lang="es-E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C2D2DD-A07B-8EC1-1BF9-11D837B0680E}"/>
              </a:ext>
            </a:extLst>
          </p:cNvPr>
          <p:cNvSpPr txBox="1"/>
          <p:nvPr/>
        </p:nvSpPr>
        <p:spPr>
          <a:xfrm>
            <a:off x="63677" y="645324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13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CC0E0CC-875A-4F7B-5C53-AD5E358832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4745"/>
          <a:stretch/>
        </p:blipFill>
        <p:spPr>
          <a:xfrm>
            <a:off x="479175" y="1833448"/>
            <a:ext cx="8992855" cy="156862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A02FC2F-EC03-4AFF-8565-CAB87F9476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41" t="55965" r="50620"/>
          <a:stretch/>
        </p:blipFill>
        <p:spPr>
          <a:xfrm>
            <a:off x="7986214" y="2151971"/>
            <a:ext cx="3726611" cy="125009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E3F0241-8849-F283-DA45-7FB1A72F77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163" t="65665" b="20638"/>
          <a:stretch/>
        </p:blipFill>
        <p:spPr>
          <a:xfrm>
            <a:off x="7410893" y="3455932"/>
            <a:ext cx="4301932" cy="388844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3870A3B3-6F2E-8A17-C2CA-091A0901E596}"/>
              </a:ext>
            </a:extLst>
          </p:cNvPr>
          <p:cNvGrpSpPr/>
          <p:nvPr/>
        </p:nvGrpSpPr>
        <p:grpSpPr>
          <a:xfrm>
            <a:off x="507754" y="3800317"/>
            <a:ext cx="8964276" cy="2913295"/>
            <a:chOff x="507754" y="3800317"/>
            <a:chExt cx="8964276" cy="2913295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5FDB6E2-2D34-F00A-AE4F-5AE8CFDC5B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65106"/>
            <a:stretch/>
          </p:blipFill>
          <p:spPr>
            <a:xfrm>
              <a:off x="507754" y="3800317"/>
              <a:ext cx="8964276" cy="1030475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A63632D7-0EF1-6159-F3E2-01B21B53C3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34115"/>
            <a:stretch/>
          </p:blipFill>
          <p:spPr>
            <a:xfrm>
              <a:off x="507754" y="4767922"/>
              <a:ext cx="8964276" cy="19456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22806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0D1A7-FC69-9395-FE35-024407FB1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565627-4502-CF73-80D4-3AA6F14CE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/>
              <a:t>TRABAJANDO CON AGENTES</a:t>
            </a:r>
            <a:br>
              <a:rPr lang="es-ES" dirty="0"/>
            </a:br>
            <a:endParaRPr lang="es-E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C2D2DD-A07B-8EC1-1BF9-11D837B0680E}"/>
              </a:ext>
            </a:extLst>
          </p:cNvPr>
          <p:cNvSpPr txBox="1"/>
          <p:nvPr/>
        </p:nvSpPr>
        <p:spPr>
          <a:xfrm>
            <a:off x="63677" y="645324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12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57B7BE9-324F-2382-7919-E4A29EE9D1CA}"/>
              </a:ext>
            </a:extLst>
          </p:cNvPr>
          <p:cNvSpPr txBox="1"/>
          <p:nvPr/>
        </p:nvSpPr>
        <p:spPr>
          <a:xfrm>
            <a:off x="434787" y="1849073"/>
            <a:ext cx="11322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Estas</a:t>
            </a:r>
            <a:r>
              <a:rPr lang="en-GB" dirty="0"/>
              <a:t> t</a:t>
            </a:r>
            <a:r>
              <a:rPr lang="es-ES" dirty="0" err="1"/>
              <a:t>écnicas</a:t>
            </a:r>
            <a:r>
              <a:rPr lang="es-ES" dirty="0"/>
              <a:t>, s</a:t>
            </a:r>
            <a:r>
              <a:rPr lang="en-GB" dirty="0"/>
              <a:t>e </a:t>
            </a:r>
            <a:r>
              <a:rPr lang="en-GB" dirty="0" err="1"/>
              <a:t>basan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agentes</a:t>
            </a:r>
            <a:r>
              <a:rPr lang="en-GB" dirty="0"/>
              <a:t>, </a:t>
            </a:r>
            <a:r>
              <a:rPr lang="en-GB" dirty="0" err="1"/>
              <a:t>cuyo</a:t>
            </a:r>
            <a:r>
              <a:rPr lang="en-GB" dirty="0"/>
              <a:t> </a:t>
            </a:r>
            <a:r>
              <a:rPr lang="en-GB" dirty="0" err="1"/>
              <a:t>comportamiento</a:t>
            </a:r>
            <a:r>
              <a:rPr lang="en-GB" dirty="0"/>
              <a:t> se </a:t>
            </a:r>
            <a:r>
              <a:rPr lang="en-GB" dirty="0" err="1"/>
              <a:t>puede</a:t>
            </a:r>
            <a:r>
              <a:rPr lang="en-GB" dirty="0"/>
              <a:t> </a:t>
            </a:r>
            <a:r>
              <a:rPr lang="en-GB" dirty="0" err="1"/>
              <a:t>definir</a:t>
            </a:r>
            <a:r>
              <a:rPr lang="en-GB" dirty="0"/>
              <a:t> de la </a:t>
            </a:r>
            <a:r>
              <a:rPr lang="en-GB" dirty="0" err="1"/>
              <a:t>siguiente</a:t>
            </a:r>
            <a:r>
              <a:rPr lang="en-GB" dirty="0"/>
              <a:t> forma:</a:t>
            </a:r>
            <a:endParaRPr lang="es-E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07ECB6-556A-85A1-5C68-489DF2880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87" y="2205119"/>
            <a:ext cx="9709877" cy="17701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F60701-7A91-C514-5144-3CEEDB6F11A3}"/>
              </a:ext>
            </a:extLst>
          </p:cNvPr>
          <p:cNvSpPr txBox="1"/>
          <p:nvPr/>
        </p:nvSpPr>
        <p:spPr>
          <a:xfrm>
            <a:off x="434786" y="4042133"/>
            <a:ext cx="1132242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Los agentes implementados, para el escenario escogido, son los siguientes</a:t>
            </a:r>
            <a:r>
              <a:rPr lang="en-GB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FrozenAgentBasic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FrozenAgentGreedy</a:t>
            </a:r>
            <a:endParaRPr lang="es-ES" b="0" dirty="0">
              <a:solidFill>
                <a:srgbClr val="4EC9B0"/>
              </a:solidFill>
              <a:effectLst/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FrozenAgentMC_On_First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FrozenAgentMC_On_All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FrozenAgentMC_Off_Pi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FrozenAgentMC_Off_Q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FrozenAgentSARSA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FrozenAgentQ_Learning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84357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0D1A7-FC69-9395-FE35-024407FB1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565627-4502-CF73-80D4-3AA6F14CE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/>
              <a:t>Entorno de prácticas: </a:t>
            </a:r>
            <a:r>
              <a:rPr lang="es-ES" dirty="0" err="1"/>
              <a:t>Gymnasium</a:t>
            </a:r>
            <a:r>
              <a:rPr lang="es-ES" dirty="0"/>
              <a:t> – Frozen </a:t>
            </a:r>
            <a:r>
              <a:rPr lang="es-ES" dirty="0" err="1"/>
              <a:t>lake</a:t>
            </a:r>
            <a:br>
              <a:rPr lang="es-ES" dirty="0"/>
            </a:br>
            <a:endParaRPr lang="es-ES" dirty="0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C37E09B3-4984-E4AE-AF5C-DAF3C70D88D4}"/>
              </a:ext>
            </a:extLst>
          </p:cNvPr>
          <p:cNvSpPr txBox="1"/>
          <p:nvPr/>
        </p:nvSpPr>
        <p:spPr>
          <a:xfrm>
            <a:off x="405285" y="1885001"/>
            <a:ext cx="11322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Descripción Problema...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C2D2DD-A07B-8EC1-1BF9-11D837B0680E}"/>
              </a:ext>
            </a:extLst>
          </p:cNvPr>
          <p:cNvSpPr txBox="1"/>
          <p:nvPr/>
        </p:nvSpPr>
        <p:spPr>
          <a:xfrm>
            <a:off x="63677" y="645324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B37723-6C6D-9DD0-F513-D4770F86F1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660" b="1"/>
          <a:stretch/>
        </p:blipFill>
        <p:spPr>
          <a:xfrm>
            <a:off x="4830647" y="1759514"/>
            <a:ext cx="6897063" cy="50630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E2200B-FAC3-4B54-FC72-49364EE82AF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0000"/>
          <a:stretch/>
        </p:blipFill>
        <p:spPr>
          <a:xfrm>
            <a:off x="2093059" y="4533978"/>
            <a:ext cx="2725263" cy="1676506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29953BC-C34D-3C65-2344-A1B95308EBC2}"/>
              </a:ext>
            </a:extLst>
          </p:cNvPr>
          <p:cNvGrpSpPr/>
          <p:nvPr/>
        </p:nvGrpSpPr>
        <p:grpSpPr>
          <a:xfrm>
            <a:off x="306593" y="3429000"/>
            <a:ext cx="4511730" cy="1064219"/>
            <a:chOff x="129678" y="5262877"/>
            <a:chExt cx="4637056" cy="113548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B78B8EB-B891-0B22-B43A-40DAC5E3750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8206" t="76336" r="34750"/>
            <a:stretch/>
          </p:blipFill>
          <p:spPr>
            <a:xfrm>
              <a:off x="129678" y="6115689"/>
              <a:ext cx="4637055" cy="214161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1C7C539-42D0-5B97-3C08-91FD3577E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34750"/>
            <a:stretch/>
          </p:blipFill>
          <p:spPr>
            <a:xfrm>
              <a:off x="129679" y="5262877"/>
              <a:ext cx="4637055" cy="90500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739D472-4A2F-626F-BC66-37F3F232674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64892" t="50000" b="18545"/>
            <a:stretch/>
          </p:blipFill>
          <p:spPr>
            <a:xfrm>
              <a:off x="172154" y="5891765"/>
              <a:ext cx="2494988" cy="28466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B96E9C9-944B-1E86-3E0D-FC9FAC3885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-2318" t="76793" r="72315" b="-4644"/>
            <a:stretch/>
          </p:blipFill>
          <p:spPr>
            <a:xfrm>
              <a:off x="2448206" y="5915833"/>
              <a:ext cx="2132261" cy="252045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14E01B6-D91F-265B-3362-F33F049FB71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7667" t="71781" r="58871" b="-8248"/>
            <a:stretch/>
          </p:blipFill>
          <p:spPr>
            <a:xfrm>
              <a:off x="174022" y="6068331"/>
              <a:ext cx="956734" cy="330026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F4EF9BF-5A3A-4642-6FB0-4A061BB54F44}"/>
              </a:ext>
            </a:extLst>
          </p:cNvPr>
          <p:cNvGrpSpPr/>
          <p:nvPr/>
        </p:nvGrpSpPr>
        <p:grpSpPr>
          <a:xfrm>
            <a:off x="76001" y="1820375"/>
            <a:ext cx="4742321" cy="1499019"/>
            <a:chOff x="-25918" y="1909520"/>
            <a:chExt cx="4742321" cy="1499019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58CC641F-D50A-5107-BF32-1B452320CB5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9886"/>
            <a:stretch/>
          </p:blipFill>
          <p:spPr>
            <a:xfrm>
              <a:off x="-25917" y="1909520"/>
              <a:ext cx="4742320" cy="486509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8F6B17F4-63B4-6C78-7F50-4F0576E7E6C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5918" y="2274391"/>
              <a:ext cx="4742321" cy="1134148"/>
            </a:xfrm>
            <a:prstGeom prst="rect">
              <a:avLst/>
            </a:prstGeom>
          </p:spPr>
        </p:pic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F9FBE4BB-5AF1-8C60-C0DE-ABB6AB50BC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9175" y="4533978"/>
            <a:ext cx="1450613" cy="167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9191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0D1A7-FC69-9395-FE35-024407FB1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565627-4502-CF73-80D4-3AA6F14CE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/>
              <a:t>Entorno de prácticas: </a:t>
            </a:r>
            <a:r>
              <a:rPr lang="es-ES" dirty="0" err="1"/>
              <a:t>Gymnasium</a:t>
            </a:r>
            <a:r>
              <a:rPr lang="es-ES" dirty="0"/>
              <a:t> – Frozen </a:t>
            </a:r>
            <a:r>
              <a:rPr lang="es-ES" dirty="0" err="1"/>
              <a:t>lake</a:t>
            </a:r>
            <a:r>
              <a:rPr lang="es-ES" dirty="0"/>
              <a:t> (4x4)</a:t>
            </a:r>
            <a:br>
              <a:rPr lang="es-ES" dirty="0"/>
            </a:br>
            <a:endParaRPr lang="es-E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C2D2DD-A07B-8EC1-1BF9-11D837B0680E}"/>
              </a:ext>
            </a:extLst>
          </p:cNvPr>
          <p:cNvSpPr txBox="1"/>
          <p:nvPr/>
        </p:nvSpPr>
        <p:spPr>
          <a:xfrm>
            <a:off x="63677" y="645324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14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26B526E-DFE2-427A-E574-8F33870560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03492"/>
            <a:ext cx="5114925" cy="301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6EB37056-CF6C-C844-C299-DDA518602D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6468" y="1512888"/>
            <a:ext cx="6615060" cy="4940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808FD0AD-49EF-5CD4-7AE9-60D36B1ECD8A}"/>
              </a:ext>
            </a:extLst>
          </p:cNvPr>
          <p:cNvSpPr txBox="1"/>
          <p:nvPr/>
        </p:nvSpPr>
        <p:spPr>
          <a:xfrm>
            <a:off x="405285" y="1885001"/>
            <a:ext cx="11322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- Diferencia entre caso base (abajo) [</a:t>
            </a:r>
            <a:r>
              <a:rPr lang="es-ES" b="1" dirty="0"/>
              <a:t>ε</a:t>
            </a:r>
            <a:r>
              <a:rPr lang="es-ES" dirty="0"/>
              <a:t>=0.4]</a:t>
            </a:r>
          </a:p>
          <a:p>
            <a:r>
              <a:rPr lang="es-ES" dirty="0"/>
              <a:t>y Monte Carlo </a:t>
            </a:r>
            <a:r>
              <a:rPr lang="es-ES" dirty="0" err="1"/>
              <a:t>On-Policy</a:t>
            </a:r>
            <a:r>
              <a:rPr lang="es-ES" dirty="0"/>
              <a:t> (derecha) [</a:t>
            </a:r>
            <a:r>
              <a:rPr lang="es-ES" b="1" dirty="0"/>
              <a:t>ε</a:t>
            </a:r>
            <a:r>
              <a:rPr lang="es-ES" dirty="0"/>
              <a:t>=0.1]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85F69E-11C9-B6D4-3C14-D61399AE82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939" y="2550971"/>
            <a:ext cx="1714739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1679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0D1A7-FC69-9395-FE35-024407FB1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FEA9C154-15CC-6F2E-1E50-9F3626F68F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6468" y="1512888"/>
            <a:ext cx="6615060" cy="4940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2565627-4502-CF73-80D4-3AA6F14CE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/>
              <a:t>Entorno de prácticas: </a:t>
            </a:r>
            <a:r>
              <a:rPr lang="es-ES" dirty="0" err="1"/>
              <a:t>Gymnasium</a:t>
            </a:r>
            <a:r>
              <a:rPr lang="es-ES" dirty="0"/>
              <a:t> – Frozen </a:t>
            </a:r>
            <a:r>
              <a:rPr lang="es-ES" dirty="0" err="1"/>
              <a:t>lake</a:t>
            </a:r>
            <a:r>
              <a:rPr lang="es-ES" dirty="0"/>
              <a:t> (8x8)</a:t>
            </a:r>
            <a:br>
              <a:rPr lang="es-ES" dirty="0"/>
            </a:br>
            <a:endParaRPr lang="es-E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C2D2DD-A07B-8EC1-1BF9-11D837B0680E}"/>
              </a:ext>
            </a:extLst>
          </p:cNvPr>
          <p:cNvSpPr txBox="1"/>
          <p:nvPr/>
        </p:nvSpPr>
        <p:spPr>
          <a:xfrm>
            <a:off x="63677" y="645324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15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08FD0AD-49EF-5CD4-7AE9-60D36B1ECD8A}"/>
              </a:ext>
            </a:extLst>
          </p:cNvPr>
          <p:cNvSpPr txBox="1"/>
          <p:nvPr/>
        </p:nvSpPr>
        <p:spPr>
          <a:xfrm>
            <a:off x="405285" y="1885001"/>
            <a:ext cx="11322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- Diferencia entre caso base (abajo) [</a:t>
            </a:r>
            <a:r>
              <a:rPr lang="es-ES" b="1" dirty="0"/>
              <a:t>ε</a:t>
            </a:r>
            <a:r>
              <a:rPr lang="es-ES" dirty="0"/>
              <a:t>=0.4]</a:t>
            </a:r>
          </a:p>
          <a:p>
            <a:r>
              <a:rPr lang="es-ES" dirty="0"/>
              <a:t>y Monte Carlo </a:t>
            </a:r>
            <a:r>
              <a:rPr lang="es-ES" dirty="0" err="1"/>
              <a:t>On-Policy</a:t>
            </a:r>
            <a:r>
              <a:rPr lang="es-ES" dirty="0"/>
              <a:t> (derecha) [</a:t>
            </a:r>
            <a:r>
              <a:rPr lang="es-ES" b="1" dirty="0"/>
              <a:t>ε</a:t>
            </a:r>
            <a:r>
              <a:rPr lang="es-ES" dirty="0"/>
              <a:t>=0.1]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85F69E-11C9-B6D4-3C14-D61399AE8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939" y="2550971"/>
            <a:ext cx="1714739" cy="704948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4D31480D-5F1C-087D-FA10-E22157F19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08471"/>
            <a:ext cx="5114925" cy="301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66369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0D1A7-FC69-9395-FE35-024407FB1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8A84D938-5DEF-9BE1-6609-00FD31E5C9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8602" y="1516794"/>
            <a:ext cx="6609830" cy="49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2565627-4502-CF73-80D4-3AA6F14CE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/>
              <a:t>Entorno de prácticas: </a:t>
            </a:r>
            <a:r>
              <a:rPr lang="es-ES" dirty="0" err="1"/>
              <a:t>Gymnasium</a:t>
            </a:r>
            <a:r>
              <a:rPr lang="es-ES" dirty="0"/>
              <a:t> – Frozen </a:t>
            </a:r>
            <a:r>
              <a:rPr lang="es-ES" dirty="0" err="1"/>
              <a:t>lake</a:t>
            </a:r>
            <a:r>
              <a:rPr lang="es-ES" dirty="0"/>
              <a:t> (8x8) (2)</a:t>
            </a:r>
            <a:br>
              <a:rPr lang="es-ES" dirty="0"/>
            </a:br>
            <a:endParaRPr lang="es-E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C2D2DD-A07B-8EC1-1BF9-11D837B0680E}"/>
              </a:ext>
            </a:extLst>
          </p:cNvPr>
          <p:cNvSpPr txBox="1"/>
          <p:nvPr/>
        </p:nvSpPr>
        <p:spPr>
          <a:xfrm>
            <a:off x="63677" y="645324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16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08FD0AD-49EF-5CD4-7AE9-60D36B1ECD8A}"/>
              </a:ext>
            </a:extLst>
          </p:cNvPr>
          <p:cNvSpPr txBox="1"/>
          <p:nvPr/>
        </p:nvSpPr>
        <p:spPr>
          <a:xfrm>
            <a:off x="405285" y="1885001"/>
            <a:ext cx="11322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- Diferencia entre caso base (abajo) [</a:t>
            </a:r>
            <a:r>
              <a:rPr lang="es-ES" b="1" dirty="0"/>
              <a:t>ε</a:t>
            </a:r>
            <a:r>
              <a:rPr lang="es-ES" dirty="0"/>
              <a:t>=0.4]</a:t>
            </a:r>
          </a:p>
          <a:p>
            <a:r>
              <a:rPr lang="es-ES" dirty="0"/>
              <a:t>y Monte Carlo </a:t>
            </a:r>
            <a:r>
              <a:rPr lang="es-ES" dirty="0" err="1"/>
              <a:t>On-Policy</a:t>
            </a:r>
            <a:r>
              <a:rPr lang="es-ES" dirty="0"/>
              <a:t> (derecha) [</a:t>
            </a:r>
            <a:r>
              <a:rPr lang="es-ES" b="1" dirty="0"/>
              <a:t>ε</a:t>
            </a:r>
            <a:r>
              <a:rPr lang="es-ES" dirty="0"/>
              <a:t>=0.4]</a:t>
            </a:r>
            <a:endParaRPr lang="en-GB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D31480D-5F1C-087D-FA10-E22157F19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08471"/>
            <a:ext cx="5114925" cy="301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356D6B-1789-9867-8350-5D893EEE41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0946" y="2551828"/>
            <a:ext cx="1619476" cy="69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5639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0D1A7-FC69-9395-FE35-024407FB1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565627-4502-CF73-80D4-3AA6F14CE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/>
              <a:t>Entorno de prácticas: </a:t>
            </a:r>
            <a:r>
              <a:rPr lang="es-ES" dirty="0" err="1"/>
              <a:t>Gymnasium</a:t>
            </a:r>
            <a:r>
              <a:rPr lang="es-ES" dirty="0"/>
              <a:t> – Frozen </a:t>
            </a:r>
            <a:r>
              <a:rPr lang="es-ES" dirty="0" err="1"/>
              <a:t>lake</a:t>
            </a:r>
            <a:r>
              <a:rPr lang="es-ES" dirty="0"/>
              <a:t> (8x8) (2)</a:t>
            </a:r>
            <a:br>
              <a:rPr lang="es-ES" dirty="0"/>
            </a:br>
            <a:r>
              <a:rPr lang="es-ES" dirty="0"/>
              <a:t>ON-</a:t>
            </a:r>
            <a:r>
              <a:rPr lang="es-ES" dirty="0" err="1"/>
              <a:t>policy</a:t>
            </a:r>
            <a:r>
              <a:rPr lang="es-ES" dirty="0"/>
              <a:t>  vs OFF-</a:t>
            </a:r>
            <a:r>
              <a:rPr lang="es-ES" dirty="0" err="1"/>
              <a:t>policy</a:t>
            </a:r>
            <a:endParaRPr lang="es-E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C2D2DD-A07B-8EC1-1BF9-11D837B0680E}"/>
              </a:ext>
            </a:extLst>
          </p:cNvPr>
          <p:cNvSpPr txBox="1"/>
          <p:nvPr/>
        </p:nvSpPr>
        <p:spPr>
          <a:xfrm>
            <a:off x="63677" y="645324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17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08FD0AD-49EF-5CD4-7AE9-60D36B1ECD8A}"/>
              </a:ext>
            </a:extLst>
          </p:cNvPr>
          <p:cNvSpPr txBox="1"/>
          <p:nvPr/>
        </p:nvSpPr>
        <p:spPr>
          <a:xfrm>
            <a:off x="405285" y="1764155"/>
            <a:ext cx="11322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- Diferencia entre </a:t>
            </a:r>
            <a:r>
              <a:rPr lang="es-ES" b="1" i="1" dirty="0" err="1"/>
              <a:t>On-Policy</a:t>
            </a:r>
            <a:r>
              <a:rPr lang="es-ES" dirty="0"/>
              <a:t> (izquierda) [</a:t>
            </a:r>
            <a:r>
              <a:rPr lang="es-ES" b="1" dirty="0"/>
              <a:t>ε</a:t>
            </a:r>
            <a:r>
              <a:rPr lang="es-ES" dirty="0"/>
              <a:t>=0.1] y </a:t>
            </a:r>
            <a:r>
              <a:rPr lang="es-ES" b="1" i="1" dirty="0"/>
              <a:t>Off-</a:t>
            </a:r>
            <a:r>
              <a:rPr lang="es-ES" b="1" i="1" dirty="0" err="1"/>
              <a:t>Policy</a:t>
            </a:r>
            <a:r>
              <a:rPr lang="es-ES" dirty="0"/>
              <a:t> (derecha) [</a:t>
            </a:r>
            <a:r>
              <a:rPr lang="es-ES" b="1" dirty="0"/>
              <a:t>ε</a:t>
            </a:r>
            <a:r>
              <a:rPr lang="es-ES" dirty="0"/>
              <a:t>=0.1]: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468868-4C19-8043-D27E-6FE7CBE187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608"/>
          <a:stretch/>
        </p:blipFill>
        <p:spPr>
          <a:xfrm>
            <a:off x="8104654" y="1683919"/>
            <a:ext cx="1714739" cy="369333"/>
          </a:xfrm>
          <a:prstGeom prst="rect">
            <a:avLst/>
          </a:prstGeom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95A80CD4-BD0C-8464-6016-C6F6524A1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7538" y="2053252"/>
            <a:ext cx="6057562" cy="4524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FF0F5E-D040-23AE-E55A-840EBD354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09083"/>
            <a:ext cx="5849443" cy="4368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00115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0D1A7-FC69-9395-FE35-024407FB1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565627-4502-CF73-80D4-3AA6F14CE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es-ES" dirty="0"/>
              <a:t>Entorno de prácticas: </a:t>
            </a:r>
            <a:r>
              <a:rPr lang="es-ES" dirty="0" err="1"/>
              <a:t>Gymnasium</a:t>
            </a:r>
            <a:r>
              <a:rPr lang="es-ES" dirty="0"/>
              <a:t> – Frozen </a:t>
            </a:r>
            <a:r>
              <a:rPr lang="es-ES" dirty="0" err="1"/>
              <a:t>lake</a:t>
            </a:r>
            <a:r>
              <a:rPr lang="es-ES" dirty="0"/>
              <a:t> (4x4)</a:t>
            </a:r>
            <a:br>
              <a:rPr lang="es-ES" dirty="0"/>
            </a:br>
            <a:r>
              <a:rPr lang="es-ES" dirty="0"/>
              <a:t>Diferencias temporales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C2D2DD-A07B-8EC1-1BF9-11D837B0680E}"/>
              </a:ext>
            </a:extLst>
          </p:cNvPr>
          <p:cNvSpPr txBox="1"/>
          <p:nvPr/>
        </p:nvSpPr>
        <p:spPr>
          <a:xfrm>
            <a:off x="63677" y="645324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18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08FD0AD-49EF-5CD4-7AE9-60D36B1ECD8A}"/>
              </a:ext>
            </a:extLst>
          </p:cNvPr>
          <p:cNvSpPr txBox="1"/>
          <p:nvPr/>
        </p:nvSpPr>
        <p:spPr>
          <a:xfrm>
            <a:off x="405285" y="1885001"/>
            <a:ext cx="11322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- Diferencia entre caso </a:t>
            </a:r>
            <a:r>
              <a:rPr lang="es-ES" b="1" dirty="0"/>
              <a:t>SARSA</a:t>
            </a:r>
            <a:r>
              <a:rPr lang="es-ES" dirty="0"/>
              <a:t> (izquierda) [</a:t>
            </a:r>
            <a:r>
              <a:rPr lang="es-ES" b="1" dirty="0"/>
              <a:t>ε</a:t>
            </a:r>
            <a:r>
              <a:rPr lang="es-ES" dirty="0"/>
              <a:t>=0.1] y </a:t>
            </a:r>
            <a:r>
              <a:rPr lang="es-ES" b="1" dirty="0"/>
              <a:t>Q-</a:t>
            </a:r>
            <a:r>
              <a:rPr lang="es-ES" b="1" dirty="0" err="1"/>
              <a:t>learning</a:t>
            </a:r>
            <a:r>
              <a:rPr lang="es-ES" dirty="0"/>
              <a:t> (derecha) [</a:t>
            </a:r>
            <a:r>
              <a:rPr lang="es-ES" b="1" dirty="0"/>
              <a:t>ε</a:t>
            </a:r>
            <a:r>
              <a:rPr lang="es-ES" dirty="0"/>
              <a:t>=0.1]</a:t>
            </a:r>
            <a:endParaRPr lang="en-GB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CABAD6C-4535-02BE-A440-6A3F69978C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77" y="2254333"/>
            <a:ext cx="5616825" cy="4194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31E01164-B4C3-D86E-C366-FC2469FCD1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0885" y="2254333"/>
            <a:ext cx="5616825" cy="4194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44252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ángulo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 rtlCol="0">
            <a:normAutofit/>
          </a:bodyPr>
          <a:lstStyle/>
          <a:p>
            <a:pPr rtl="0"/>
            <a:r>
              <a:rPr lang="es-ES">
                <a:solidFill>
                  <a:srgbClr val="FFFFFF"/>
                </a:solidFill>
              </a:rPr>
              <a:t>Gracias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2629006"/>
          </a:xfrm>
        </p:spPr>
        <p:txBody>
          <a:bodyPr rtlCol="0">
            <a:norm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Andrés García </a:t>
            </a:r>
            <a:r>
              <a:rPr lang="es-ES" sz="1600" dirty="0" err="1">
                <a:solidFill>
                  <a:schemeClr val="bg1"/>
                </a:solidFill>
              </a:rPr>
              <a:t>Meroño</a:t>
            </a:r>
            <a:endParaRPr lang="es-ES" sz="1600" dirty="0">
              <a:solidFill>
                <a:schemeClr val="bg1"/>
              </a:solidFill>
            </a:endParaRPr>
          </a:p>
          <a:p>
            <a:r>
              <a:rPr lang="es-ES" sz="1600" dirty="0">
                <a:solidFill>
                  <a:schemeClr val="bg1"/>
                </a:solidFill>
              </a:rPr>
              <a:t>Pablo Guillén Marquina</a:t>
            </a:r>
          </a:p>
          <a:p>
            <a:r>
              <a:rPr lang="es-ES" sz="1600" dirty="0">
                <a:solidFill>
                  <a:schemeClr val="bg1"/>
                </a:solidFill>
              </a:rPr>
              <a:t>Alejandro Alonso Puig</a:t>
            </a:r>
          </a:p>
          <a:p>
            <a:pPr rtl="0"/>
            <a:endParaRPr lang="es-ES" dirty="0">
              <a:solidFill>
                <a:schemeClr val="bg2"/>
              </a:solidFill>
            </a:endParaRPr>
          </a:p>
          <a:p>
            <a:pPr rtl="0"/>
            <a:endParaRPr lang="es-ES" dirty="0">
              <a:solidFill>
                <a:schemeClr val="bg2"/>
              </a:solidFill>
            </a:endParaRPr>
          </a:p>
        </p:txBody>
      </p:sp>
      <p:pic>
        <p:nvPicPr>
          <p:cNvPr id="5" name="Imagen 4" descr="Números digitale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9669_TF56390039_Win32" id="{FCB14B3E-2B92-48B8-A334-05E7A8EE34E1}" vid="{B6EC9E21-8C82-4EB1-BBE7-A370F785D0C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{F2D25261-6F15-47DC-9844-3588732A14D4}tf56390039_win32</Template>
  <TotalTime>3253</TotalTime>
  <Words>1500</Words>
  <Application>Microsoft Office PowerPoint</Application>
  <PresentationFormat>Widescreen</PresentationFormat>
  <Paragraphs>163</Paragraphs>
  <Slides>21</Slides>
  <Notes>6</Notes>
  <HiddenSlides>1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3" baseType="lpstr">
      <vt:lpstr>-apple-system</vt:lpstr>
      <vt:lpstr>IwonaCond-Bold</vt:lpstr>
      <vt:lpstr>IwonaCond-BoldItalic</vt:lpstr>
      <vt:lpstr>IwonaCond-Italic</vt:lpstr>
      <vt:lpstr>IwonaCond-Regular</vt:lpstr>
      <vt:lpstr>MSAM10</vt:lpstr>
      <vt:lpstr>Arial</vt:lpstr>
      <vt:lpstr>Calibri</vt:lpstr>
      <vt:lpstr>Consolas</vt:lpstr>
      <vt:lpstr>Gill Sans MT</vt:lpstr>
      <vt:lpstr>Wingdings 2</vt:lpstr>
      <vt:lpstr>Personalizado</vt:lpstr>
      <vt:lpstr>Prácticas 1 + 2</vt:lpstr>
      <vt:lpstr>Practica 1. Bandido de k-brazos </vt:lpstr>
      <vt:lpstr>IMPLEMENTACIÓN</vt:lpstr>
      <vt:lpstr>Estudio: ε-Greedy </vt:lpstr>
      <vt:lpstr>Estudio: ε-Greedy </vt:lpstr>
      <vt:lpstr>Estudio: UCB1 vs UCB2 </vt:lpstr>
      <vt:lpstr>Estudio: UCB1 vs UCB2 </vt:lpstr>
      <vt:lpstr>Estudio:  Ascenso del gradiente (Softmax vs Gradiente de Preferencias)</vt:lpstr>
      <vt:lpstr>Estudio:  Ascenso del gradiente (Softmax vs  Gradiente de Preferencias)</vt:lpstr>
      <vt:lpstr>Estudio:  algoritmos Bayesianos (Muestreo de Thompson y UCB Bayesiano)</vt:lpstr>
      <vt:lpstr>Estudio:  algoritmos Bayesianos (Muestreo de Thompson y UCB Bayesiano)</vt:lpstr>
      <vt:lpstr>PRACTICA 2. Aprendizaje en entornos complejos </vt:lpstr>
      <vt:lpstr>Monte carlo – InTRODUCCIÓN </vt:lpstr>
      <vt:lpstr>TRABAJANDO CON AGENTES </vt:lpstr>
      <vt:lpstr>Entorno de prácticas: Gymnasium – Frozen lake </vt:lpstr>
      <vt:lpstr>Entorno de prácticas: Gymnasium – Frozen lake (4x4) </vt:lpstr>
      <vt:lpstr>Entorno de prácticas: Gymnasium – Frozen lake (8x8) </vt:lpstr>
      <vt:lpstr>Entorno de prácticas: Gymnasium – Frozen lake (8x8) (2) </vt:lpstr>
      <vt:lpstr>Entorno de prácticas: Gymnasium – Frozen lake (8x8) (2) ON-policy  vs OFF-policy</vt:lpstr>
      <vt:lpstr>Entorno de prácticas: Gymnasium – Frozen lake (4x4) Diferencias temporales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Práctica 1</dc:title>
  <dc:creator>Alejandro Alonso</dc:creator>
  <cp:lastModifiedBy>Pablo Guillén Marquina</cp:lastModifiedBy>
  <cp:revision>127</cp:revision>
  <dcterms:created xsi:type="dcterms:W3CDTF">2024-11-17T18:02:45Z</dcterms:created>
  <dcterms:modified xsi:type="dcterms:W3CDTF">2025-03-06T17:05:34Z</dcterms:modified>
</cp:coreProperties>
</file>